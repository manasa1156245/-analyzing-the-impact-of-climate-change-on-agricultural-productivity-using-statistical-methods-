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1"/>
  </p:sldMasterIdLst>
  <p:sldIdLst>
    <p:sldId id="257" r:id="rId2"/>
    <p:sldId id="259" r:id="rId3"/>
    <p:sldId id="266" r:id="rId4"/>
    <p:sldId id="260" r:id="rId5"/>
    <p:sldId id="261" r:id="rId6"/>
    <p:sldId id="262" r:id="rId7"/>
    <p:sldId id="263" r:id="rId8"/>
    <p:sldId id="264" r:id="rId9"/>
    <p:sldId id="265" r:id="rId10"/>
    <p:sldId id="267" r:id="rId11"/>
    <p:sldId id="268"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AA8968-F73B-4E12-9C64-F6368F23AAAF}" v="92" dt="2026-04-15T03:02:24.9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610" autoAdjust="0"/>
  </p:normalViewPr>
  <p:slideViewPr>
    <p:cSldViewPr snapToGrid="0">
      <p:cViewPr varScale="1">
        <p:scale>
          <a:sx n="57" d="100"/>
          <a:sy n="57" d="100"/>
        </p:scale>
        <p:origin x="980"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91310F-9241-42E9-B89B-8FC687DEACE4}"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269211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91310F-9241-42E9-B89B-8FC687DEACE4}"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2497830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91310F-9241-42E9-B89B-8FC687DEACE4}"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2869859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91310F-9241-42E9-B89B-8FC687DEACE4}"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2511955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91310F-9241-42E9-B89B-8FC687DEACE4}" type="datetimeFigureOut">
              <a:rPr lang="en-IN" smtClean="0"/>
              <a:t>15-04-2026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1822202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91310F-9241-42E9-B89B-8FC687DEACE4}" type="datetimeFigureOut">
              <a:rPr lang="en-IN" smtClean="0"/>
              <a:t>15-04-2026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3769539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6291310F-9241-42E9-B89B-8FC687DEACE4}" type="datetimeFigureOut">
              <a:rPr lang="en-IN" smtClean="0"/>
              <a:t>15-04-2026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3176059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91310F-9241-42E9-B89B-8FC687DEACE4}"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3906044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91310F-9241-42E9-B89B-8FC687DEACE4}"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185356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91310F-9241-42E9-B89B-8FC687DEACE4}"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3191392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91310F-9241-42E9-B89B-8FC687DEACE4}"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2880387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91310F-9241-42E9-B89B-8FC687DEACE4}"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F97C9-16F4-4BD4-A7F6-C3B7AA080822}"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24988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91310F-9241-42E9-B89B-8FC687DEACE4}"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2772606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91310F-9241-42E9-B89B-8FC687DEACE4}" type="datetimeFigureOut">
              <a:rPr lang="en-IN" smtClean="0"/>
              <a:t>15-04-2026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22943923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91310F-9241-42E9-B89B-8FC687DEACE4}" type="datetimeFigureOut">
              <a:rPr lang="en-IN" smtClean="0"/>
              <a:t>15-04-2026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12424105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91310F-9241-42E9-B89B-8FC687DEACE4}"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32765702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91310F-9241-42E9-B89B-8FC687DEACE4}"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F97C9-16F4-4BD4-A7F6-C3B7AA080822}" type="slidenum">
              <a:rPr lang="en-IN" smtClean="0"/>
              <a:t>‹#›</a:t>
            </a:fld>
            <a:endParaRPr lang="en-IN"/>
          </a:p>
        </p:txBody>
      </p:sp>
    </p:spTree>
    <p:extLst>
      <p:ext uri="{BB962C8B-B14F-4D97-AF65-F5344CB8AC3E}">
        <p14:creationId xmlns:p14="http://schemas.microsoft.com/office/powerpoint/2010/main" val="1117673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6291310F-9241-42E9-B89B-8FC687DEACE4}" type="datetimeFigureOut">
              <a:rPr lang="en-IN" smtClean="0"/>
              <a:t>15-04-2026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2B9F97C9-16F4-4BD4-A7F6-C3B7AA080822}" type="slidenum">
              <a:rPr lang="en-IN" smtClean="0"/>
              <a:t>‹#›</a:t>
            </a:fld>
            <a:endParaRPr lang="en-IN"/>
          </a:p>
        </p:txBody>
      </p:sp>
    </p:spTree>
    <p:extLst>
      <p:ext uri="{BB962C8B-B14F-4D97-AF65-F5344CB8AC3E}">
        <p14:creationId xmlns:p14="http://schemas.microsoft.com/office/powerpoint/2010/main" val="3660777623"/>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kaggle.com/datasets/patelris/crop-yield-prediction-dataset/cod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57EA66-44B6-00C9-A007-2F2E3725F1CA}"/>
              </a:ext>
            </a:extLst>
          </p:cNvPr>
          <p:cNvSpPr txBox="1"/>
          <p:nvPr/>
        </p:nvSpPr>
        <p:spPr>
          <a:xfrm>
            <a:off x="2158411" y="765545"/>
            <a:ext cx="9048306" cy="526297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“Analyzing the Impact of Climate Change on Agricultural  Productivity </a:t>
            </a:r>
          </a:p>
          <a:p>
            <a:r>
              <a:rPr lang="en-US" sz="2400" dirty="0">
                <a:latin typeface="Times New Roman" panose="02020603050405020304" pitchFamily="18" charset="0"/>
                <a:cs typeface="Times New Roman" panose="02020603050405020304" pitchFamily="18" charset="0"/>
              </a:rPr>
              <a:t>                                  Using Statistical Methods”</a:t>
            </a:r>
          </a:p>
          <a:p>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ea typeface="+mj-lt"/>
                <a:cs typeface="Times New Roman" panose="02020603050405020304" pitchFamily="18" charset="0"/>
              </a:rPr>
              <a:t>University Post Graduate College (OU) , </a:t>
            </a:r>
            <a:r>
              <a:rPr lang="en-US" sz="2400" b="1" dirty="0" err="1">
                <a:latin typeface="Times New Roman" panose="02020603050405020304" pitchFamily="18" charset="0"/>
                <a:ea typeface="+mj-lt"/>
                <a:cs typeface="Times New Roman" panose="02020603050405020304" pitchFamily="18" charset="0"/>
              </a:rPr>
              <a:t>Secunderabad</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ea typeface="+mj-lt"/>
                <a:cs typeface="Times New Roman" panose="02020603050405020304" pitchFamily="18" charset="0"/>
              </a:rPr>
              <a:t>(A Constituent College Of Osmania University)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mj-lt"/>
                <a:cs typeface="Times New Roman" panose="02020603050405020304" pitchFamily="18" charset="0"/>
              </a:rPr>
              <a:t>DEPARTMENT OF COMPUTER SCIENCE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mj-lt"/>
                <a:cs typeface="Times New Roman" panose="02020603050405020304" pitchFamily="18" charset="0"/>
              </a:rPr>
              <a:t>M.SC.DATA SCIENCE II YEAR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mj-lt"/>
                <a:cs typeface="Times New Roman" panose="02020603050405020304" pitchFamily="18" charset="0"/>
              </a:rPr>
              <a:t>[2024-2026]                              </a:t>
            </a:r>
            <a:br>
              <a:rPr lang="en-US" sz="2400" dirty="0">
                <a:latin typeface="Times New Roman" panose="02020603050405020304" pitchFamily="18" charset="0"/>
                <a:ea typeface="+mj-lt"/>
                <a:cs typeface="Times New Roman" panose="02020603050405020304" pitchFamily="18" charset="0"/>
              </a:rPr>
            </a:br>
            <a:r>
              <a:rPr lang="en-US" sz="2400" dirty="0">
                <a:latin typeface="Times New Roman" panose="02020603050405020304" pitchFamily="18" charset="0"/>
                <a:ea typeface="+mj-lt"/>
                <a:cs typeface="Times New Roman" panose="02020603050405020304" pitchFamily="18" charset="0"/>
              </a:rPr>
              <a:t>                                                Submitted by</a:t>
            </a:r>
          </a:p>
          <a:p>
            <a:br>
              <a:rPr lang="en-US" sz="2400" dirty="0">
                <a:latin typeface="Times New Roman" panose="02020603050405020304" pitchFamily="18" charset="0"/>
                <a:ea typeface="+mj-lt"/>
                <a:cs typeface="Times New Roman" panose="02020603050405020304" pitchFamily="18" charset="0"/>
              </a:rPr>
            </a:br>
            <a:r>
              <a:rPr lang="en-US" sz="2400" b="1" dirty="0">
                <a:latin typeface="Times New Roman" panose="02020603050405020304" pitchFamily="18" charset="0"/>
                <a:ea typeface="+mj-lt"/>
                <a:cs typeface="Times New Roman" panose="02020603050405020304" pitchFamily="18" charset="0"/>
              </a:rPr>
              <a:t>                                   </a:t>
            </a:r>
            <a:r>
              <a:rPr lang="en-US" sz="2400" dirty="0">
                <a:latin typeface="Times New Roman" panose="02020603050405020304" pitchFamily="18" charset="0"/>
                <a:ea typeface="+mj-lt"/>
                <a:cs typeface="Times New Roman" panose="02020603050405020304" pitchFamily="18" charset="0"/>
              </a:rPr>
              <a:t> </a:t>
            </a:r>
            <a:r>
              <a:rPr lang="en-US" sz="2400" b="1" dirty="0" err="1">
                <a:latin typeface="Times New Roman" panose="02020603050405020304" pitchFamily="18" charset="0"/>
                <a:ea typeface="+mj-lt"/>
                <a:cs typeface="Times New Roman" panose="02020603050405020304" pitchFamily="18" charset="0"/>
              </a:rPr>
              <a:t>B.Manasa</a:t>
            </a:r>
            <a:r>
              <a:rPr lang="en-US" sz="2400" b="1" dirty="0">
                <a:latin typeface="Times New Roman" panose="02020603050405020304" pitchFamily="18" charset="0"/>
                <a:ea typeface="+mj-lt"/>
                <a:cs typeface="Times New Roman" panose="02020603050405020304" pitchFamily="18" charset="0"/>
              </a:rPr>
              <a:t>      </a:t>
            </a:r>
            <a:r>
              <a:rPr lang="en-US" sz="2400" dirty="0">
                <a:latin typeface="Times New Roman" panose="02020603050405020304" pitchFamily="18" charset="0"/>
                <a:ea typeface="+mj-lt"/>
                <a:cs typeface="Times New Roman" panose="02020603050405020304" pitchFamily="18" charset="0"/>
              </a:rPr>
              <a:t>101024559011</a:t>
            </a:r>
            <a:br>
              <a:rPr lang="en-US" sz="2400" b="1" dirty="0">
                <a:latin typeface="Times New Roman" panose="02020603050405020304" pitchFamily="18" charset="0"/>
                <a:ea typeface="+mj-lt"/>
                <a:cs typeface="Times New Roman" panose="02020603050405020304" pitchFamily="18" charset="0"/>
              </a:rPr>
            </a:br>
            <a:r>
              <a:rPr lang="en-GB" sz="2400" b="1" dirty="0">
                <a:latin typeface="Times New Roman" panose="02020603050405020304" pitchFamily="18" charset="0"/>
                <a:ea typeface="+mj-lt"/>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mj-lt"/>
                <a:cs typeface="Times New Roman" panose="02020603050405020304" pitchFamily="18" charset="0"/>
              </a:rPr>
              <a:t>Under the Guidance Of</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ea typeface="+mj-lt"/>
                <a:cs typeface="Times New Roman" panose="02020603050405020304" pitchFamily="18" charset="0"/>
              </a:rPr>
              <a:t>Dr.B.RANGANATHA</a:t>
            </a:r>
            <a:r>
              <a:rPr lang="en-US" sz="2400" dirty="0">
                <a:latin typeface="Times New Roman" panose="02020603050405020304" pitchFamily="18" charset="0"/>
                <a:ea typeface="+mj-lt"/>
                <a:cs typeface="Times New Roman" panose="02020603050405020304" pitchFamily="18" charset="0"/>
              </a:rPr>
              <a:t> RAO</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mj-lt"/>
                <a:cs typeface="Times New Roman" panose="02020603050405020304" pitchFamily="18" charset="0"/>
              </a:rPr>
              <a:t>(Assistant Professor(C), Dept of Computer Science)     </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1461C7E-8B72-915B-A462-CDFBE08FF9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095" y="2378978"/>
            <a:ext cx="2681510" cy="2639590"/>
          </a:xfrm>
          <a:prstGeom prst="rect">
            <a:avLst/>
          </a:prstGeom>
        </p:spPr>
      </p:pic>
    </p:spTree>
    <p:extLst>
      <p:ext uri="{BB962C8B-B14F-4D97-AF65-F5344CB8AC3E}">
        <p14:creationId xmlns:p14="http://schemas.microsoft.com/office/powerpoint/2010/main" val="3878101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9D1CE-504C-9432-6E85-DB3A94FD038F}"/>
              </a:ext>
            </a:extLst>
          </p:cNvPr>
          <p:cNvSpPr>
            <a:spLocks noGrp="1"/>
          </p:cNvSpPr>
          <p:nvPr>
            <p:ph type="title"/>
          </p:nvPr>
        </p:nvSpPr>
        <p:spPr>
          <a:xfrm>
            <a:off x="913775" y="618517"/>
            <a:ext cx="10364451" cy="1018897"/>
          </a:xfrm>
        </p:spPr>
        <p:txBody>
          <a:bodyPr>
            <a:normAutofit/>
          </a:bodyPr>
          <a:lstStyle/>
          <a:p>
            <a:r>
              <a:rPr lang="en-US" sz="2400" b="1" dirty="0">
                <a:latin typeface="Times New Roman" panose="02020603050405020304" pitchFamily="18" charset="0"/>
                <a:cs typeface="Times New Roman" panose="02020603050405020304" pitchFamily="18" charset="0"/>
              </a:rPr>
              <a:t>INTRODUCTION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D4D8D0A-0603-6A72-2EC8-64C4E1E98B33}"/>
              </a:ext>
            </a:extLst>
          </p:cNvPr>
          <p:cNvSpPr>
            <a:spLocks noGrp="1"/>
          </p:cNvSpPr>
          <p:nvPr>
            <p:ph sz="quarter" idx="13"/>
          </p:nvPr>
        </p:nvSpPr>
        <p:spPr>
          <a:xfrm>
            <a:off x="1147690" y="1796903"/>
            <a:ext cx="10363826" cy="3909236"/>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Agriculture is highly dependent on climate conditions such as temperature and rainfall.</a:t>
            </a:r>
          </a:p>
          <a:p>
            <a:pPr marL="0" indent="0">
              <a:buNone/>
            </a:pPr>
            <a:r>
              <a:rPr lang="en-US" sz="1800" dirty="0">
                <a:latin typeface="Times New Roman" panose="02020603050405020304" pitchFamily="18" charset="0"/>
                <a:cs typeface="Times New Roman" panose="02020603050405020304" pitchFamily="18" charset="0"/>
              </a:rPr>
              <a:t>In recent years, climate change has caused irregular weather patterns and extreme conditions, which are negatively affecting crop growth and agricultural productivity. </a:t>
            </a:r>
          </a:p>
          <a:p>
            <a:pPr marL="0" indent="0">
              <a:buNone/>
            </a:pPr>
            <a:r>
              <a:rPr lang="en-US" sz="1800" dirty="0">
                <a:latin typeface="Times New Roman" panose="02020603050405020304" pitchFamily="18" charset="0"/>
                <a:cs typeface="Times New Roman" panose="02020603050405020304" pitchFamily="18" charset="0"/>
              </a:rPr>
              <a:t>Changes in temperature, precipitation, and CO₂ levels have created serious challenges for farmers and food security. Therefore, understanding the impact of climate variables on crop yield has become essential.</a:t>
            </a:r>
          </a:p>
          <a:p>
            <a:pPr marL="0" indent="0">
              <a:buNone/>
            </a:pPr>
            <a:r>
              <a:rPr lang="en-US" sz="1800" dirty="0">
                <a:latin typeface="Times New Roman" panose="02020603050405020304" pitchFamily="18" charset="0"/>
                <a:cs typeface="Times New Roman" panose="02020603050405020304" pitchFamily="18" charset="0"/>
              </a:rPr>
              <a:t>This project focuses on analyzing the impact of climate change on agricultural productivity using statistical methods and real-world data.</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7377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CE21DF-6B4E-1CE9-4558-1B03526FDC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9312" y="1541721"/>
            <a:ext cx="9218428" cy="4657060"/>
          </a:xfrm>
          <a:prstGeom prst="rect">
            <a:avLst/>
          </a:prstGeom>
        </p:spPr>
      </p:pic>
    </p:spTree>
    <p:extLst>
      <p:ext uri="{BB962C8B-B14F-4D97-AF65-F5344CB8AC3E}">
        <p14:creationId xmlns:p14="http://schemas.microsoft.com/office/powerpoint/2010/main" val="4257305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27D22-7F01-1F37-6DC2-FD7801B67C2F}"/>
              </a:ext>
            </a:extLst>
          </p:cNvPr>
          <p:cNvSpPr>
            <a:spLocks noGrp="1"/>
          </p:cNvSpPr>
          <p:nvPr>
            <p:ph type="title"/>
          </p:nvPr>
        </p:nvSpPr>
        <p:spPr/>
        <p:txBody>
          <a:bodyPr>
            <a:normAutofit/>
          </a:bodyPr>
          <a:lstStyle/>
          <a:p>
            <a:r>
              <a:rPr lang="en-GB" sz="2400" b="1" dirty="0">
                <a:latin typeface="Times New Roman" panose="02020603050405020304" pitchFamily="18" charset="0"/>
                <a:cs typeface="Times New Roman" panose="02020603050405020304" pitchFamily="18" charset="0"/>
              </a:rPr>
              <a:t>Motivation for Research</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DE6B2E-5DCF-0EB9-D813-00B18B05E27A}"/>
              </a:ext>
            </a:extLst>
          </p:cNvPr>
          <p:cNvSpPr>
            <a:spLocks noGrp="1"/>
          </p:cNvSpPr>
          <p:nvPr>
            <p:ph sz="quarter" idx="13"/>
          </p:nvPr>
        </p:nvSpPr>
        <p:spPr>
          <a:xfrm>
            <a:off x="913774" y="2214694"/>
            <a:ext cx="10363826" cy="3576505"/>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Climate change is increasingly affecting agriculture by causing changes in temperature, rainfall, and other environmental factors. </a:t>
            </a:r>
          </a:p>
          <a:p>
            <a:pPr marL="0" indent="0">
              <a:buNone/>
            </a:pPr>
            <a:r>
              <a:rPr lang="en-US" sz="1800" dirty="0">
                <a:latin typeface="Times New Roman" panose="02020603050405020304" pitchFamily="18" charset="0"/>
                <a:cs typeface="Times New Roman" panose="02020603050405020304" pitchFamily="18" charset="0"/>
              </a:rPr>
              <a:t>These changes make farming more difficult and reduce crop productivity. Farmers face uncertainty due to unpredictable weather conditions, which directly affects crop yield and income. </a:t>
            </a:r>
          </a:p>
          <a:p>
            <a:pPr marL="0" indent="0">
              <a:buNone/>
            </a:pPr>
            <a:r>
              <a:rPr lang="en-US" sz="1800" dirty="0">
                <a:latin typeface="Times New Roman" panose="02020603050405020304" pitchFamily="18" charset="0"/>
                <a:cs typeface="Times New Roman" panose="02020603050405020304" pitchFamily="18" charset="0"/>
              </a:rPr>
              <a:t>Although many studies have been conducted, most of them do not use real-world data or analyze multiple factors together.</a:t>
            </a:r>
          </a:p>
          <a:p>
            <a:pPr marL="0" indent="0">
              <a:buNone/>
            </a:pPr>
            <a:r>
              <a:rPr lang="en-US" sz="1800" dirty="0">
                <a:latin typeface="Times New Roman" panose="02020603050405020304" pitchFamily="18" charset="0"/>
                <a:cs typeface="Times New Roman" panose="02020603050405020304" pitchFamily="18" charset="0"/>
              </a:rPr>
              <a:t>This project is motivated by the need to use real data and statistical methods to understand the relationship between climate variables and crop yield, identify key factors, compare different regions, and predict agricultural productivity for better decision-making.</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3046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C46CC-28D5-766B-04F8-8ED5060ACFD7}"/>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Literature review</a:t>
            </a:r>
            <a:endParaRPr lang="en-IN" sz="2400" b="1" dirty="0">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13DB0029-27CE-911C-BEB4-6639A256F7A4}"/>
              </a:ext>
            </a:extLst>
          </p:cNvPr>
          <p:cNvGraphicFramePr>
            <a:graphicFrameLocks noGrp="1"/>
          </p:cNvGraphicFramePr>
          <p:nvPr>
            <p:ph sz="quarter" idx="13"/>
            <p:extLst>
              <p:ext uri="{D42A27DB-BD31-4B8C-83A1-F6EECF244321}">
                <p14:modId xmlns:p14="http://schemas.microsoft.com/office/powerpoint/2010/main" val="8012067"/>
              </p:ext>
            </p:extLst>
          </p:nvPr>
        </p:nvGraphicFramePr>
        <p:xfrm>
          <a:off x="531628" y="2094614"/>
          <a:ext cx="10649631" cy="4344463"/>
        </p:xfrm>
        <a:graphic>
          <a:graphicData uri="http://schemas.openxmlformats.org/drawingml/2006/table">
            <a:tbl>
              <a:tblPr firstRow="1" bandRow="1">
                <a:tableStyleId>{5C22544A-7EE6-4342-B048-85BDC9FD1C3A}</a:tableStyleId>
              </a:tblPr>
              <a:tblGrid>
                <a:gridCol w="2020186">
                  <a:extLst>
                    <a:ext uri="{9D8B030D-6E8A-4147-A177-3AD203B41FA5}">
                      <a16:colId xmlns:a16="http://schemas.microsoft.com/office/drawing/2014/main" val="2713391898"/>
                    </a:ext>
                  </a:extLst>
                </a:gridCol>
                <a:gridCol w="1864172">
                  <a:extLst>
                    <a:ext uri="{9D8B030D-6E8A-4147-A177-3AD203B41FA5}">
                      <a16:colId xmlns:a16="http://schemas.microsoft.com/office/drawing/2014/main" val="3273320518"/>
                    </a:ext>
                  </a:extLst>
                </a:gridCol>
                <a:gridCol w="2255091">
                  <a:extLst>
                    <a:ext uri="{9D8B030D-6E8A-4147-A177-3AD203B41FA5}">
                      <a16:colId xmlns:a16="http://schemas.microsoft.com/office/drawing/2014/main" val="3253522746"/>
                    </a:ext>
                  </a:extLst>
                </a:gridCol>
                <a:gridCol w="2255091">
                  <a:extLst>
                    <a:ext uri="{9D8B030D-6E8A-4147-A177-3AD203B41FA5}">
                      <a16:colId xmlns:a16="http://schemas.microsoft.com/office/drawing/2014/main" val="2052222417"/>
                    </a:ext>
                  </a:extLst>
                </a:gridCol>
                <a:gridCol w="2255091">
                  <a:extLst>
                    <a:ext uri="{9D8B030D-6E8A-4147-A177-3AD203B41FA5}">
                      <a16:colId xmlns:a16="http://schemas.microsoft.com/office/drawing/2014/main" val="1111227806"/>
                    </a:ext>
                  </a:extLst>
                </a:gridCol>
              </a:tblGrid>
              <a:tr h="595423">
                <a:tc>
                  <a:txBody>
                    <a:bodyPr/>
                    <a:lstStyle/>
                    <a:p>
                      <a:r>
                        <a:rPr lang="en-IN" sz="2000" b="1" dirty="0">
                          <a:solidFill>
                            <a:schemeClr val="tx1"/>
                          </a:solidFill>
                          <a:latin typeface="Times New Roman" panose="02020603050405020304" pitchFamily="18" charset="0"/>
                          <a:cs typeface="Times New Roman" panose="02020603050405020304" pitchFamily="18" charset="0"/>
                        </a:rPr>
                        <a:t>Paper Title </a:t>
                      </a:r>
                    </a:p>
                  </a:txBody>
                  <a:tcPr>
                    <a:noFill/>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       Authors</a:t>
                      </a:r>
                    </a:p>
                  </a:txBody>
                  <a:tcPr>
                    <a:noFill/>
                  </a:tcPr>
                </a:tc>
                <a:tc>
                  <a:txBody>
                    <a:bodyPr/>
                    <a:lstStyle/>
                    <a:p>
                      <a:r>
                        <a:rPr lang="en-IN" b="1" dirty="0">
                          <a:solidFill>
                            <a:schemeClr val="tx1"/>
                          </a:solidFill>
                          <a:latin typeface="Times New Roman" panose="02020603050405020304" pitchFamily="18" charset="0"/>
                          <a:cs typeface="Times New Roman" panose="02020603050405020304" pitchFamily="18" charset="0"/>
                        </a:rPr>
                        <a:t>      Approach</a:t>
                      </a:r>
                    </a:p>
                  </a:txBody>
                  <a:tcPr>
                    <a:noFill/>
                  </a:tcPr>
                </a:tc>
                <a:tc>
                  <a:txBody>
                    <a:bodyPr/>
                    <a:lstStyle/>
                    <a:p>
                      <a:r>
                        <a:rPr lang="en-IN" dirty="0">
                          <a:solidFill>
                            <a:schemeClr val="tx1"/>
                          </a:solidFill>
                          <a:latin typeface="Times New Roman" panose="02020603050405020304" pitchFamily="18" charset="0"/>
                          <a:cs typeface="Times New Roman" panose="02020603050405020304" pitchFamily="18" charset="0"/>
                        </a:rPr>
                        <a:t>         Findings</a:t>
                      </a:r>
                    </a:p>
                  </a:txBody>
                  <a:tcPr>
                    <a:noFill/>
                  </a:tcPr>
                </a:tc>
                <a:tc>
                  <a:txBody>
                    <a:bodyPr/>
                    <a:lstStyle/>
                    <a:p>
                      <a:r>
                        <a:rPr lang="en-IN" dirty="0">
                          <a:solidFill>
                            <a:schemeClr val="tx1"/>
                          </a:solidFill>
                          <a:latin typeface="Times New Roman" panose="02020603050405020304" pitchFamily="18" charset="0"/>
                          <a:cs typeface="Times New Roman" panose="02020603050405020304" pitchFamily="18" charset="0"/>
                        </a:rPr>
                        <a:t>       Limitations</a:t>
                      </a:r>
                    </a:p>
                  </a:txBody>
                  <a:tcPr>
                    <a:noFill/>
                  </a:tcPr>
                </a:tc>
                <a:extLst>
                  <a:ext uri="{0D108BD9-81ED-4DB2-BD59-A6C34878D82A}">
                    <a16:rowId xmlns:a16="http://schemas.microsoft.com/office/drawing/2014/main" val="1119438178"/>
                  </a:ext>
                </a:extLst>
              </a:tr>
              <a:tr h="1795422">
                <a:tc>
                  <a:txBody>
                    <a:bodyPr/>
                    <a:lstStyle/>
                    <a:p>
                      <a:r>
                        <a:rPr lang="en-IN" b="0" i="1" dirty="0">
                          <a:latin typeface="Times New Roman" panose="02020603050405020304" pitchFamily="18" charset="0"/>
                          <a:cs typeface="Times New Roman" panose="02020603050405020304" pitchFamily="18" charset="0"/>
                        </a:rPr>
                        <a:t>Climate Change Impact on Crop Yield</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noFill/>
                  </a:tcPr>
                </a:tc>
                <a:tc>
                  <a:txBody>
                    <a:bodyPr/>
                    <a:lstStyle/>
                    <a:p>
                      <a:r>
                        <a:rPr lang="en-IN" dirty="0">
                          <a:latin typeface="Times New Roman" panose="02020603050405020304" pitchFamily="18" charset="0"/>
                          <a:cs typeface="Times New Roman" panose="02020603050405020304" pitchFamily="18" charset="0"/>
                        </a:rPr>
                        <a:t> Cheng Zhao et al. (2023)</a:t>
                      </a:r>
                    </a:p>
                  </a:txBody>
                  <a:tcPr>
                    <a:noFill/>
                  </a:tcPr>
                </a:tc>
                <a:tc>
                  <a:txBody>
                    <a:bodyPr/>
                    <a:lstStyle/>
                    <a:p>
                      <a:r>
                        <a:rPr lang="en-US" dirty="0">
                          <a:latin typeface="Times New Roman" panose="02020603050405020304" pitchFamily="18" charset="0"/>
                          <a:cs typeface="Times New Roman" panose="02020603050405020304" pitchFamily="18" charset="0"/>
                        </a:rPr>
                        <a:t>Used statistical models and global datasets </a:t>
                      </a:r>
                    </a:p>
                    <a:p>
                      <a:r>
                        <a:rPr lang="en-US" dirty="0">
                          <a:latin typeface="Times New Roman" panose="02020603050405020304" pitchFamily="18" charset="0"/>
                          <a:cs typeface="Times New Roman" panose="02020603050405020304" pitchFamily="18" charset="0"/>
                        </a:rPr>
                        <a:t>Analyzed temperature and rainfall effects on crop yield </a:t>
                      </a:r>
                    </a:p>
                    <a:p>
                      <a:endParaRPr lang="en-IN" dirty="0">
                        <a:latin typeface="Times New Roman" panose="02020603050405020304" pitchFamily="18" charset="0"/>
                        <a:cs typeface="Times New Roman" panose="02020603050405020304" pitchFamily="18" charset="0"/>
                      </a:endParaRPr>
                    </a:p>
                  </a:txBody>
                  <a:tcPr>
                    <a:noFill/>
                  </a:tcPr>
                </a:tc>
                <a:tc>
                  <a:txBody>
                    <a:bodyPr/>
                    <a:lstStyle/>
                    <a:p>
                      <a:r>
                        <a:rPr lang="en-US" dirty="0">
                          <a:latin typeface="Times New Roman" panose="02020603050405020304" pitchFamily="18" charset="0"/>
                          <a:cs typeface="Times New Roman" panose="02020603050405020304" pitchFamily="18" charset="0"/>
                        </a:rPr>
                        <a:t>Increase in temperature reduces crop yield </a:t>
                      </a:r>
                    </a:p>
                    <a:p>
                      <a:r>
                        <a:rPr lang="en-US" dirty="0">
                          <a:latin typeface="Times New Roman" panose="02020603050405020304" pitchFamily="18" charset="0"/>
                          <a:cs typeface="Times New Roman" panose="02020603050405020304" pitchFamily="18" charset="0"/>
                        </a:rPr>
                        <a:t>Climate variability significantly affects productivity </a:t>
                      </a:r>
                    </a:p>
                    <a:p>
                      <a:endParaRPr lang="en-IN" dirty="0">
                        <a:latin typeface="Times New Roman" panose="02020603050405020304" pitchFamily="18" charset="0"/>
                        <a:cs typeface="Times New Roman" panose="02020603050405020304" pitchFamily="18" charset="0"/>
                      </a:endParaRPr>
                    </a:p>
                  </a:txBody>
                  <a:tcPr>
                    <a:noFill/>
                  </a:tcPr>
                </a:tc>
                <a:tc>
                  <a:txBody>
                    <a:bodyPr/>
                    <a:lstStyle/>
                    <a:p>
                      <a:r>
                        <a:rPr lang="en-US" dirty="0">
                          <a:latin typeface="Times New Roman" panose="02020603050405020304" pitchFamily="18" charset="0"/>
                          <a:cs typeface="Times New Roman" panose="02020603050405020304" pitchFamily="18" charset="0"/>
                        </a:rPr>
                        <a:t>Focuses mainly on global level </a:t>
                      </a:r>
                    </a:p>
                    <a:p>
                      <a:r>
                        <a:rPr lang="en-US" dirty="0">
                          <a:latin typeface="Times New Roman" panose="02020603050405020304" pitchFamily="18" charset="0"/>
                          <a:cs typeface="Times New Roman" panose="02020603050405020304" pitchFamily="18" charset="0"/>
                        </a:rPr>
                        <a:t>Limited use of region-specific real data</a:t>
                      </a:r>
                    </a:p>
                    <a:p>
                      <a:endParaRPr lang="en-IN"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2838052271"/>
                  </a:ext>
                </a:extLst>
              </a:tr>
              <a:tr h="1242789">
                <a:tc>
                  <a:txBody>
                    <a:bodyPr/>
                    <a:lstStyle/>
                    <a:p>
                      <a:r>
                        <a:rPr lang="en-US" i="1" dirty="0">
                          <a:latin typeface="Times New Roman" panose="02020603050405020304" pitchFamily="18" charset="0"/>
                          <a:cs typeface="Times New Roman" panose="02020603050405020304" pitchFamily="18" charset="0"/>
                        </a:rPr>
                        <a:t>Impact of Weather Variability on Crop Yields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noFill/>
                  </a:tcPr>
                </a:tc>
                <a:tc>
                  <a:txBody>
                    <a:bodyPr/>
                    <a:lstStyle/>
                    <a:p>
                      <a:r>
                        <a:rPr lang="en-US" dirty="0">
                          <a:latin typeface="Times New Roman" panose="02020603050405020304" pitchFamily="18" charset="0"/>
                          <a:cs typeface="Times New Roman" panose="02020603050405020304" pitchFamily="18" charset="0"/>
                        </a:rPr>
                        <a:t>S. Kumar (2025)</a:t>
                      </a:r>
                      <a:endParaRPr lang="en-IN" dirty="0">
                        <a:latin typeface="Times New Roman" panose="02020603050405020304" pitchFamily="18" charset="0"/>
                        <a:cs typeface="Times New Roman" panose="02020603050405020304" pitchFamily="18" charset="0"/>
                      </a:endParaRPr>
                    </a:p>
                  </a:txBody>
                  <a:tcPr>
                    <a:noFill/>
                  </a:tcPr>
                </a:tc>
                <a:tc>
                  <a:txBody>
                    <a:bodyPr/>
                    <a:lstStyle/>
                    <a:p>
                      <a:r>
                        <a:rPr lang="en-US" dirty="0">
                          <a:latin typeface="Times New Roman" panose="02020603050405020304" pitchFamily="18" charset="0"/>
                          <a:cs typeface="Times New Roman" panose="02020603050405020304" pitchFamily="18" charset="0"/>
                        </a:rPr>
                        <a:t>Used regression analysis to study weather variability </a:t>
                      </a:r>
                    </a:p>
                    <a:p>
                      <a:r>
                        <a:rPr lang="en-US" dirty="0">
                          <a:latin typeface="Times New Roman" panose="02020603050405020304" pitchFamily="18" charset="0"/>
                          <a:cs typeface="Times New Roman" panose="02020603050405020304" pitchFamily="18" charset="0"/>
                        </a:rPr>
                        <a:t>Examined rainfall and temperature effects </a:t>
                      </a:r>
                    </a:p>
                    <a:p>
                      <a:endParaRPr lang="en-IN" dirty="0">
                        <a:latin typeface="Times New Roman" panose="02020603050405020304" pitchFamily="18" charset="0"/>
                        <a:cs typeface="Times New Roman" panose="02020603050405020304" pitchFamily="18" charset="0"/>
                      </a:endParaRPr>
                    </a:p>
                  </a:txBody>
                  <a:tcPr>
                    <a:noFill/>
                  </a:tcPr>
                </a:tc>
                <a:tc>
                  <a:txBody>
                    <a:bodyPr/>
                    <a:lstStyle/>
                    <a:p>
                      <a:r>
                        <a:rPr lang="en-US" dirty="0">
                          <a:latin typeface="Times New Roman" panose="02020603050405020304" pitchFamily="18" charset="0"/>
                          <a:cs typeface="Times New Roman" panose="02020603050405020304" pitchFamily="18" charset="0"/>
                        </a:rPr>
                        <a:t>Irregular rainfall negatively affects crop production </a:t>
                      </a:r>
                    </a:p>
                    <a:p>
                      <a:r>
                        <a:rPr lang="en-US" dirty="0">
                          <a:latin typeface="Times New Roman" panose="02020603050405020304" pitchFamily="18" charset="0"/>
                          <a:cs typeface="Times New Roman" panose="02020603050405020304" pitchFamily="18" charset="0"/>
                        </a:rPr>
                        <a:t>Temperature variation leads to yield instability </a:t>
                      </a:r>
                      <a:endParaRPr lang="en-IN" dirty="0">
                        <a:latin typeface="Times New Roman" panose="02020603050405020304" pitchFamily="18" charset="0"/>
                        <a:cs typeface="Times New Roman" panose="02020603050405020304" pitchFamily="18" charset="0"/>
                      </a:endParaRPr>
                    </a:p>
                  </a:txBody>
                  <a:tcPr>
                    <a:noFill/>
                  </a:tcPr>
                </a:tc>
                <a:tc>
                  <a:txBody>
                    <a:bodyPr/>
                    <a:lstStyle/>
                    <a:p>
                      <a:r>
                        <a:rPr lang="en-US" dirty="0">
                          <a:latin typeface="Times New Roman" panose="02020603050405020304" pitchFamily="18" charset="0"/>
                          <a:cs typeface="Times New Roman" panose="02020603050405020304" pitchFamily="18" charset="0"/>
                        </a:rPr>
                        <a:t>Limited number of variables considered </a:t>
                      </a:r>
                    </a:p>
                    <a:p>
                      <a:r>
                        <a:rPr lang="en-US" dirty="0">
                          <a:latin typeface="Times New Roman" panose="02020603050405020304" pitchFamily="18" charset="0"/>
                          <a:cs typeface="Times New Roman" panose="02020603050405020304" pitchFamily="18" charset="0"/>
                        </a:rPr>
                        <a:t>Does not include economic impact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2482605286"/>
                  </a:ext>
                </a:extLst>
              </a:tr>
            </a:tbl>
          </a:graphicData>
        </a:graphic>
      </p:graphicFrame>
    </p:spTree>
    <p:extLst>
      <p:ext uri="{BB962C8B-B14F-4D97-AF65-F5344CB8AC3E}">
        <p14:creationId xmlns:p14="http://schemas.microsoft.com/office/powerpoint/2010/main" val="25505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2132E08-5FB9-EA99-5F37-E5A3111ABBBA}"/>
              </a:ext>
            </a:extLst>
          </p:cNvPr>
          <p:cNvGraphicFramePr>
            <a:graphicFrameLocks noGrp="1"/>
          </p:cNvGraphicFramePr>
          <p:nvPr>
            <p:extLst>
              <p:ext uri="{D42A27DB-BD31-4B8C-83A1-F6EECF244321}">
                <p14:modId xmlns:p14="http://schemas.microsoft.com/office/powerpoint/2010/main" val="368201189"/>
              </p:ext>
            </p:extLst>
          </p:nvPr>
        </p:nvGraphicFramePr>
        <p:xfrm>
          <a:off x="818707" y="1371600"/>
          <a:ext cx="10643193" cy="4574199"/>
        </p:xfrm>
        <a:graphic>
          <a:graphicData uri="http://schemas.openxmlformats.org/drawingml/2006/table">
            <a:tbl>
              <a:tblPr firstRow="1" bandRow="1">
                <a:tableStyleId>{5C22544A-7EE6-4342-B048-85BDC9FD1C3A}</a:tableStyleId>
              </a:tblPr>
              <a:tblGrid>
                <a:gridCol w="1840749">
                  <a:extLst>
                    <a:ext uri="{9D8B030D-6E8A-4147-A177-3AD203B41FA5}">
                      <a16:colId xmlns:a16="http://schemas.microsoft.com/office/drawing/2014/main" val="1560431479"/>
                    </a:ext>
                  </a:extLst>
                </a:gridCol>
                <a:gridCol w="2200611">
                  <a:extLst>
                    <a:ext uri="{9D8B030D-6E8A-4147-A177-3AD203B41FA5}">
                      <a16:colId xmlns:a16="http://schemas.microsoft.com/office/drawing/2014/main" val="138369921"/>
                    </a:ext>
                  </a:extLst>
                </a:gridCol>
                <a:gridCol w="2200611">
                  <a:extLst>
                    <a:ext uri="{9D8B030D-6E8A-4147-A177-3AD203B41FA5}">
                      <a16:colId xmlns:a16="http://schemas.microsoft.com/office/drawing/2014/main" val="1215107714"/>
                    </a:ext>
                  </a:extLst>
                </a:gridCol>
                <a:gridCol w="2200611">
                  <a:extLst>
                    <a:ext uri="{9D8B030D-6E8A-4147-A177-3AD203B41FA5}">
                      <a16:colId xmlns:a16="http://schemas.microsoft.com/office/drawing/2014/main" val="530094492"/>
                    </a:ext>
                  </a:extLst>
                </a:gridCol>
                <a:gridCol w="2200611">
                  <a:extLst>
                    <a:ext uri="{9D8B030D-6E8A-4147-A177-3AD203B41FA5}">
                      <a16:colId xmlns:a16="http://schemas.microsoft.com/office/drawing/2014/main" val="772407689"/>
                    </a:ext>
                  </a:extLst>
                </a:gridCol>
              </a:tblGrid>
              <a:tr h="1913788">
                <a:tc>
                  <a:txBody>
                    <a:bodyPr/>
                    <a:lstStyle/>
                    <a:p>
                      <a:r>
                        <a:rPr lang="en-US" sz="1800" b="0" i="1" dirty="0">
                          <a:solidFill>
                            <a:schemeClr val="tx1"/>
                          </a:solidFill>
                          <a:latin typeface="Times New Roman" panose="02020603050405020304" pitchFamily="18" charset="0"/>
                          <a:cs typeface="Times New Roman" panose="02020603050405020304" pitchFamily="18" charset="0"/>
                        </a:rPr>
                        <a:t>Impact of Abnormal Temperature on Crop Yield</a:t>
                      </a:r>
                      <a:br>
                        <a:rPr lang="en-US" sz="1800" b="0" dirty="0">
                          <a:solidFill>
                            <a:schemeClr val="tx1"/>
                          </a:solidFill>
                          <a:latin typeface="Times New Roman" panose="02020603050405020304" pitchFamily="18" charset="0"/>
                          <a:cs typeface="Times New Roman" panose="02020603050405020304" pitchFamily="18" charset="0"/>
                        </a:rPr>
                      </a:br>
                      <a:endParaRPr lang="en-US" sz="1800" b="0" dirty="0">
                        <a:solidFill>
                          <a:schemeClr val="tx1"/>
                        </a:solidFill>
                        <a:latin typeface="Times New Roman" panose="02020603050405020304" pitchFamily="18" charset="0"/>
                        <a:cs typeface="Times New Roman" panose="02020603050405020304" pitchFamily="18" charset="0"/>
                      </a:endParaRPr>
                    </a:p>
                    <a:p>
                      <a:endParaRPr lang="en-IN" sz="1800" b="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r>
                        <a:rPr lang="en-US" sz="1800" b="0" dirty="0">
                          <a:solidFill>
                            <a:schemeClr val="tx1"/>
                          </a:solidFill>
                          <a:latin typeface="Times New Roman" panose="02020603050405020304" pitchFamily="18" charset="0"/>
                          <a:cs typeface="Times New Roman" panose="02020603050405020304" pitchFamily="18" charset="0"/>
                        </a:rPr>
                        <a:t> Q. Li et al. (2026)</a:t>
                      </a:r>
                      <a:endParaRPr lang="en-IN" sz="1800" b="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r>
                        <a:rPr lang="en-US" sz="1800" b="0" dirty="0">
                          <a:solidFill>
                            <a:schemeClr val="tx1"/>
                          </a:solidFill>
                          <a:latin typeface="Times New Roman" panose="02020603050405020304" pitchFamily="18" charset="0"/>
                          <a:cs typeface="Times New Roman" panose="02020603050405020304" pitchFamily="18" charset="0"/>
                        </a:rPr>
                        <a:t>Analyzed extreme temperature effects using statistical models </a:t>
                      </a:r>
                    </a:p>
                    <a:p>
                      <a:endParaRPr lang="en-IN" sz="1800" b="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r>
                        <a:rPr lang="en-US" sz="1800" b="0" dirty="0">
                          <a:solidFill>
                            <a:schemeClr val="tx1"/>
                          </a:solidFill>
                          <a:latin typeface="Times New Roman" panose="02020603050405020304" pitchFamily="18" charset="0"/>
                          <a:cs typeface="Times New Roman" panose="02020603050405020304" pitchFamily="18" charset="0"/>
                        </a:rPr>
                        <a:t>High temperatures significantly reduce crop yield </a:t>
                      </a:r>
                    </a:p>
                    <a:p>
                      <a:r>
                        <a:rPr lang="en-US" sz="1800" b="0" dirty="0">
                          <a:solidFill>
                            <a:schemeClr val="tx1"/>
                          </a:solidFill>
                          <a:latin typeface="Times New Roman" panose="02020603050405020304" pitchFamily="18" charset="0"/>
                          <a:cs typeface="Times New Roman" panose="02020603050405020304" pitchFamily="18" charset="0"/>
                        </a:rPr>
                        <a:t>Extreme heat events are harmful to agriculture </a:t>
                      </a:r>
                    </a:p>
                    <a:p>
                      <a:endParaRPr lang="en-IN" sz="1800" b="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r>
                        <a:rPr lang="en-US" sz="1800" b="0" dirty="0">
                          <a:solidFill>
                            <a:schemeClr val="tx1"/>
                          </a:solidFill>
                          <a:latin typeface="Times New Roman" panose="02020603050405020304" pitchFamily="18" charset="0"/>
                          <a:cs typeface="Times New Roman" panose="02020603050405020304" pitchFamily="18" charset="0"/>
                        </a:rPr>
                        <a:t>Focuses mainly on temperature </a:t>
                      </a:r>
                    </a:p>
                    <a:p>
                      <a:r>
                        <a:rPr lang="en-US" sz="1800" b="0" dirty="0">
                          <a:solidFill>
                            <a:schemeClr val="tx1"/>
                          </a:solidFill>
                          <a:latin typeface="Times New Roman" panose="02020603050405020304" pitchFamily="18" charset="0"/>
                          <a:cs typeface="Times New Roman" panose="02020603050405020304" pitchFamily="18" charset="0"/>
                        </a:rPr>
                        <a:t>Does not consider multiple climate variables</a:t>
                      </a:r>
                    </a:p>
                    <a:p>
                      <a:endParaRPr lang="en-IN" sz="1800" b="0" dirty="0">
                        <a:solidFill>
                          <a:schemeClr val="tx1"/>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2257542353"/>
                  </a:ext>
                </a:extLst>
              </a:tr>
              <a:tr h="2562519">
                <a:tc>
                  <a:txBody>
                    <a:bodyPr/>
                    <a:lstStyle/>
                    <a:p>
                      <a:r>
                        <a:rPr lang="en-US" i="1" dirty="0">
                          <a:latin typeface="Times New Roman" panose="02020603050405020304" pitchFamily="18" charset="0"/>
                          <a:cs typeface="Times New Roman" panose="02020603050405020304" pitchFamily="18" charset="0"/>
                        </a:rPr>
                        <a:t>Global Crop Yield Sensitivity to Climate Change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txBody>
                  <a:tcPr>
                    <a:noFill/>
                  </a:tcPr>
                </a:tc>
                <a:tc>
                  <a:txBody>
                    <a:bodyPr/>
                    <a:lstStyle/>
                    <a:p>
                      <a:r>
                        <a:rPr lang="en-US" dirty="0" err="1">
                          <a:latin typeface="Times New Roman" panose="02020603050405020304" pitchFamily="18" charset="0"/>
                          <a:cs typeface="Times New Roman" panose="02020603050405020304" pitchFamily="18" charset="0"/>
                        </a:rPr>
                        <a:t>Toshichika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Iizumi</a:t>
                      </a:r>
                      <a:r>
                        <a:rPr lang="en-US" dirty="0">
                          <a:latin typeface="Times New Roman" panose="02020603050405020304" pitchFamily="18" charset="0"/>
                          <a:cs typeface="Times New Roman" panose="02020603050405020304" pitchFamily="18" charset="0"/>
                        </a:rPr>
                        <a:t> &amp; Navin </a:t>
                      </a:r>
                      <a:r>
                        <a:rPr lang="en-US" dirty="0" err="1">
                          <a:latin typeface="Times New Roman" panose="02020603050405020304" pitchFamily="18" charset="0"/>
                          <a:cs typeface="Times New Roman" panose="02020603050405020304" pitchFamily="18" charset="0"/>
                        </a:rPr>
                        <a:t>Ramankutty</a:t>
                      </a:r>
                      <a:r>
                        <a:rPr lang="en-US" dirty="0">
                          <a:latin typeface="Times New Roman" panose="02020603050405020304" pitchFamily="18" charset="0"/>
                          <a:cs typeface="Times New Roman" panose="02020603050405020304" pitchFamily="18" charset="0"/>
                        </a:rPr>
                        <a:t> (2022)</a:t>
                      </a:r>
                      <a:endParaRPr lang="en-IN" sz="1800" b="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r>
                        <a:rPr lang="en-US" dirty="0">
                          <a:latin typeface="Times New Roman" panose="02020603050405020304" pitchFamily="18" charset="0"/>
                          <a:cs typeface="Times New Roman" panose="02020603050405020304" pitchFamily="18" charset="0"/>
                        </a:rPr>
                        <a:t>Used statistical modeling and global datasets </a:t>
                      </a:r>
                    </a:p>
                    <a:p>
                      <a:endParaRPr lang="en-IN" sz="1800" b="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r>
                        <a:rPr lang="en-US" dirty="0">
                          <a:latin typeface="Times New Roman" panose="02020603050405020304" pitchFamily="18" charset="0"/>
                          <a:cs typeface="Times New Roman" panose="02020603050405020304" pitchFamily="18" charset="0"/>
                        </a:rPr>
                        <a:t>Crop yield is highly sensitive to climate change </a:t>
                      </a:r>
                    </a:p>
                    <a:p>
                      <a:r>
                        <a:rPr lang="en-US" dirty="0">
                          <a:latin typeface="Times New Roman" panose="02020603050405020304" pitchFamily="18" charset="0"/>
                          <a:cs typeface="Times New Roman" panose="02020603050405020304" pitchFamily="18" charset="0"/>
                        </a:rPr>
                        <a:t>Temperature rise negatively affects productivity </a:t>
                      </a:r>
                    </a:p>
                    <a:p>
                      <a:endParaRPr lang="en-IN" sz="1800" b="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r>
                        <a:rPr lang="en-US" dirty="0">
                          <a:latin typeface="Times New Roman" panose="02020603050405020304" pitchFamily="18" charset="0"/>
                          <a:cs typeface="Times New Roman" panose="02020603050405020304" pitchFamily="18" charset="0"/>
                        </a:rPr>
                        <a:t>Focuses on global trends </a:t>
                      </a:r>
                    </a:p>
                    <a:p>
                      <a:r>
                        <a:rPr lang="en-US" dirty="0">
                          <a:latin typeface="Times New Roman" panose="02020603050405020304" pitchFamily="18" charset="0"/>
                          <a:cs typeface="Times New Roman" panose="02020603050405020304" pitchFamily="18" charset="0"/>
                        </a:rPr>
                        <a:t>Limited use of real-time or local datasets</a:t>
                      </a:r>
                    </a:p>
                    <a:p>
                      <a:endParaRPr lang="en-IN" sz="1800" b="0" dirty="0">
                        <a:solidFill>
                          <a:schemeClr val="tx1"/>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2374110134"/>
                  </a:ext>
                </a:extLst>
              </a:tr>
            </a:tbl>
          </a:graphicData>
        </a:graphic>
      </p:graphicFrame>
    </p:spTree>
    <p:extLst>
      <p:ext uri="{BB962C8B-B14F-4D97-AF65-F5344CB8AC3E}">
        <p14:creationId xmlns:p14="http://schemas.microsoft.com/office/powerpoint/2010/main" val="3953320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C280-D5B5-70FB-B4B2-13BAA3420094}"/>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Problem statement</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2FEA4D-33E2-46CE-B6DD-7672BBA31155}"/>
              </a:ext>
            </a:extLst>
          </p:cNvPr>
          <p:cNvSpPr>
            <a:spLocks noGrp="1"/>
          </p:cNvSpPr>
          <p:nvPr>
            <p:ph sz="quarter" idx="13"/>
          </p:nvPr>
        </p:nvSpPr>
        <p:spPr/>
        <p:txBody>
          <a:bodyPr>
            <a:normAutofit/>
          </a:bodyPr>
          <a:lstStyle/>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Climate change is affecting agriculture through changes in temperature, rainfall, and CO₂ levels, which impact crop productivity. Many existing studies rely on simulation models and consider only limited factors. There is a lack of proper analysis using real-world data and multiple variables together. Therefore, this project aims to analyze the impact of climate change on agricultural productivity using statistical methods and real data.</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4478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18028-180B-3F43-42E0-B0EEF80F85C6}"/>
              </a:ext>
            </a:extLst>
          </p:cNvPr>
          <p:cNvSpPr>
            <a:spLocks noGrp="1"/>
          </p:cNvSpPr>
          <p:nvPr>
            <p:ph type="title"/>
          </p:nvPr>
        </p:nvSpPr>
        <p:spPr>
          <a:xfrm>
            <a:off x="913775" y="618518"/>
            <a:ext cx="10364451" cy="689288"/>
          </a:xfrm>
        </p:spPr>
        <p:txBody>
          <a:bodyPr>
            <a:normAutofit/>
          </a:bodyPr>
          <a:lstStyle/>
          <a:p>
            <a:r>
              <a:rPr lang="en-US" sz="2400" b="1" dirty="0">
                <a:latin typeface="Times New Roman" panose="02020603050405020304" pitchFamily="18" charset="0"/>
                <a:cs typeface="Times New Roman" panose="02020603050405020304" pitchFamily="18" charset="0"/>
              </a:rPr>
              <a:t>Research objectives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63E09B-FB1C-C739-7EC8-E3C1FF224742}"/>
              </a:ext>
            </a:extLst>
          </p:cNvPr>
          <p:cNvSpPr>
            <a:spLocks noGrp="1"/>
          </p:cNvSpPr>
          <p:nvPr>
            <p:ph sz="quarter" idx="13"/>
          </p:nvPr>
        </p:nvSpPr>
        <p:spPr>
          <a:xfrm>
            <a:off x="913774" y="1307806"/>
            <a:ext cx="10363826" cy="5061096"/>
          </a:xfrm>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Objective 1: </a:t>
            </a:r>
          </a:p>
          <a:p>
            <a:pPr marL="0" indent="0">
              <a:buNone/>
            </a:pPr>
            <a:r>
              <a:rPr lang="en-US" sz="1600" dirty="0">
                <a:latin typeface="Times New Roman" panose="02020603050405020304" pitchFamily="18" charset="0"/>
                <a:cs typeface="Times New Roman" panose="02020603050405020304" pitchFamily="18" charset="0"/>
              </a:rPr>
              <a:t>To analyze the relationship between climate variables (temperature, rainfall, humidity) and crop yield. </a:t>
            </a:r>
          </a:p>
          <a:p>
            <a:pPr marL="0" indent="0">
              <a:buNone/>
            </a:pPr>
            <a:r>
              <a:rPr lang="en-US" sz="1600" b="1" dirty="0">
                <a:latin typeface="Times New Roman" panose="02020603050405020304" pitchFamily="18" charset="0"/>
                <a:cs typeface="Times New Roman" panose="02020603050405020304" pitchFamily="18" charset="0"/>
              </a:rPr>
              <a:t>Objective 2: </a:t>
            </a:r>
          </a:p>
          <a:p>
            <a:pPr marL="0" indent="0">
              <a:buNone/>
            </a:pPr>
            <a:r>
              <a:rPr lang="en-US" sz="1600" dirty="0">
                <a:latin typeface="Times New Roman" panose="02020603050405020304" pitchFamily="18" charset="0"/>
                <a:cs typeface="Times New Roman" panose="02020603050405020304" pitchFamily="18" charset="0"/>
              </a:rPr>
              <a:t>To identify the most significant climate factors affecting agricultural productivity using regression analysis. </a:t>
            </a:r>
          </a:p>
          <a:p>
            <a:pPr marL="0" indent="0">
              <a:buNone/>
            </a:pPr>
            <a:r>
              <a:rPr lang="en-US" sz="1600" b="1" dirty="0">
                <a:latin typeface="Times New Roman" panose="02020603050405020304" pitchFamily="18" charset="0"/>
                <a:cs typeface="Times New Roman" panose="02020603050405020304" pitchFamily="18" charset="0"/>
              </a:rPr>
              <a:t>Objective 3: </a:t>
            </a:r>
          </a:p>
          <a:p>
            <a:pPr marL="0" indent="0">
              <a:buNone/>
            </a:pPr>
            <a:r>
              <a:rPr lang="en-US" sz="1600" dirty="0">
                <a:latin typeface="Times New Roman" panose="02020603050405020304" pitchFamily="18" charset="0"/>
                <a:cs typeface="Times New Roman" panose="02020603050405020304" pitchFamily="18" charset="0"/>
              </a:rPr>
              <a:t>To compare agricultural productivity across different regions and crop types using ANOVA. </a:t>
            </a:r>
          </a:p>
          <a:p>
            <a:pPr marL="0" indent="0">
              <a:buNone/>
            </a:pPr>
            <a:r>
              <a:rPr lang="en-US" sz="1600" b="1" dirty="0">
                <a:latin typeface="Times New Roman" panose="02020603050405020304" pitchFamily="18" charset="0"/>
                <a:cs typeface="Times New Roman" panose="02020603050405020304" pitchFamily="18" charset="0"/>
              </a:rPr>
              <a:t>Objective 4: </a:t>
            </a:r>
          </a:p>
          <a:p>
            <a:pPr marL="0" indent="0">
              <a:buNone/>
            </a:pPr>
            <a:r>
              <a:rPr lang="en-US" sz="1600" dirty="0">
                <a:latin typeface="Times New Roman" panose="02020603050405020304" pitchFamily="18" charset="0"/>
                <a:cs typeface="Times New Roman" panose="02020603050405020304" pitchFamily="18" charset="0"/>
              </a:rPr>
              <a:t>To analyze trends and patterns in agricultural productivity over time using time series analysis. </a:t>
            </a:r>
          </a:p>
          <a:p>
            <a:pPr marL="0" indent="0">
              <a:buNone/>
            </a:pPr>
            <a:r>
              <a:rPr lang="en-US" sz="1600" b="1" dirty="0">
                <a:latin typeface="Times New Roman" panose="02020603050405020304" pitchFamily="18" charset="0"/>
                <a:cs typeface="Times New Roman" panose="02020603050405020304" pitchFamily="18" charset="0"/>
              </a:rPr>
              <a:t>Objective 5:</a:t>
            </a:r>
          </a:p>
          <a:p>
            <a:pPr marL="0" indent="0">
              <a:buNone/>
            </a:pP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To build a statistical model to explain and predict crop yield based on climate variables. </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629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ED46B-DF7A-0467-8026-3AD39BC55FBB}"/>
              </a:ext>
            </a:extLst>
          </p:cNvPr>
          <p:cNvSpPr>
            <a:spLocks noGrp="1"/>
          </p:cNvSpPr>
          <p:nvPr>
            <p:ph type="title"/>
          </p:nvPr>
        </p:nvSpPr>
        <p:spPr>
          <a:xfrm>
            <a:off x="913775" y="618517"/>
            <a:ext cx="10364451" cy="753083"/>
          </a:xfrm>
        </p:spPr>
        <p:txBody>
          <a:bodyPr>
            <a:normAutofit/>
          </a:bodyPr>
          <a:lstStyle/>
          <a:p>
            <a:r>
              <a:rPr lang="en-US" sz="2400" b="1" dirty="0">
                <a:latin typeface="Times New Roman" panose="02020603050405020304" pitchFamily="18" charset="0"/>
                <a:cs typeface="Times New Roman" panose="02020603050405020304" pitchFamily="18" charset="0"/>
              </a:rPr>
              <a:t>methodology</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6D7327-95D9-F44B-D482-9199B1232B19}"/>
              </a:ext>
            </a:extLst>
          </p:cNvPr>
          <p:cNvSpPr>
            <a:spLocks noGrp="1"/>
          </p:cNvSpPr>
          <p:nvPr>
            <p:ph sz="quarter" idx="13"/>
          </p:nvPr>
        </p:nvSpPr>
        <p:spPr>
          <a:xfrm>
            <a:off x="913774" y="1371600"/>
            <a:ext cx="10363826" cy="4419599"/>
          </a:xfrm>
        </p:spPr>
        <p:txBody>
          <a:bodyPr>
            <a:normAutofit fontScale="85000" lnSpcReduction="20000"/>
          </a:bodyPr>
          <a:lstStyle/>
          <a:p>
            <a:pPr marL="0" indent="0">
              <a:buNone/>
            </a:pPr>
            <a:r>
              <a:rPr lang="en-IN" sz="1400" b="1" dirty="0">
                <a:latin typeface="Times New Roman" panose="02020603050405020304" pitchFamily="18" charset="0"/>
                <a:cs typeface="Times New Roman" panose="02020603050405020304" pitchFamily="18" charset="0"/>
              </a:rPr>
              <a:t>Dataset: </a:t>
            </a:r>
            <a:r>
              <a:rPr lang="en-IN" sz="1400" dirty="0">
                <a:latin typeface="Times New Roman" panose="02020603050405020304" pitchFamily="18" charset="0"/>
                <a:cs typeface="Times New Roman" panose="02020603050405020304" pitchFamily="18" charset="0"/>
              </a:rPr>
              <a:t>Climate Change Impact on Agriculture Dataset (2024)</a:t>
            </a:r>
          </a:p>
          <a:p>
            <a:pPr marL="0" indent="0">
              <a:buNone/>
            </a:pPr>
            <a:r>
              <a:rPr lang="en-IN" sz="1400" b="1" dirty="0">
                <a:latin typeface="Times New Roman" panose="02020603050405020304" pitchFamily="18" charset="0"/>
                <a:cs typeface="Times New Roman" panose="02020603050405020304" pitchFamily="18" charset="0"/>
              </a:rPr>
              <a:t>Link </a:t>
            </a:r>
            <a:r>
              <a:rPr lang="en-IN"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hlinkClick r:id="rId2"/>
              </a:rPr>
              <a:t>https://www.kaggle.com/datasets/patelris/crop-yield-prediction-dataset/code</a:t>
            </a:r>
            <a:endParaRPr lang="en-IN"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Size :  </a:t>
            </a:r>
            <a:r>
              <a:rPr lang="en-US" sz="1400" dirty="0">
                <a:latin typeface="Times New Roman" panose="02020603050405020304" pitchFamily="18" charset="0"/>
                <a:cs typeface="Times New Roman" panose="02020603050405020304" pitchFamily="18" charset="0"/>
              </a:rPr>
              <a:t>samples are  10,000 rows and  variables: 15 columns and it includes </a:t>
            </a:r>
            <a:endParaRPr lang="en-IN" sz="1400" dirty="0"/>
          </a:p>
          <a:p>
            <a:pPr>
              <a:buFont typeface="Wingdings" panose="05000000000000000000" pitchFamily="2" charset="2"/>
              <a:buChar char="q"/>
            </a:pPr>
            <a:r>
              <a:rPr lang="en-IN" sz="1400" dirty="0">
                <a:latin typeface="Times New Roman" panose="02020603050405020304" pitchFamily="18" charset="0"/>
                <a:cs typeface="Times New Roman" panose="02020603050405020304" pitchFamily="18" charset="0"/>
              </a:rPr>
              <a:t>Climate variables (temperature, rainfall, CO₂, etc.) </a:t>
            </a:r>
          </a:p>
          <a:p>
            <a:pPr>
              <a:buFont typeface="Wingdings" panose="05000000000000000000" pitchFamily="2" charset="2"/>
              <a:buChar char="q"/>
            </a:pPr>
            <a:r>
              <a:rPr lang="en-IN" sz="1400" dirty="0">
                <a:latin typeface="Times New Roman" panose="02020603050405020304" pitchFamily="18" charset="0"/>
                <a:cs typeface="Times New Roman" panose="02020603050405020304" pitchFamily="18" charset="0"/>
              </a:rPr>
              <a:t>Agricultural variables (crop yield, irrigation, soil health, etc.) </a:t>
            </a:r>
          </a:p>
          <a:p>
            <a:pPr marL="0" indent="0">
              <a:buNone/>
            </a:pPr>
            <a:r>
              <a:rPr lang="en-IN" sz="1800" b="1" dirty="0">
                <a:latin typeface="Times New Roman" panose="02020603050405020304" pitchFamily="18" charset="0"/>
                <a:cs typeface="Times New Roman" panose="02020603050405020304" pitchFamily="18" charset="0"/>
              </a:rPr>
              <a:t>Preprocessing:</a:t>
            </a:r>
            <a:endParaRPr lang="en-US" sz="1800" b="1"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sz="1900" cap="none" dirty="0">
                <a:latin typeface="Times New Roman" panose="02020603050405020304" pitchFamily="18" charset="0"/>
                <a:cs typeface="Times New Roman" panose="02020603050405020304" pitchFamily="18" charset="0"/>
              </a:rPr>
              <a:t>Handling Missing Values </a:t>
            </a:r>
          </a:p>
          <a:p>
            <a:pPr marL="0" lvl="0" indent="0" eaLnBrk="0" fontAlgn="base" hangingPunct="0">
              <a:lnSpc>
                <a:spcPct val="100000"/>
              </a:lnSpc>
              <a:spcBef>
                <a:spcPct val="0"/>
              </a:spcBef>
              <a:spcAft>
                <a:spcPct val="0"/>
              </a:spcAft>
              <a:buClrTx/>
              <a:buFontTx/>
              <a:buChar char="•"/>
            </a:pPr>
            <a:r>
              <a:rPr lang="en-US" altLang="en-US" sz="1900" cap="none" dirty="0">
                <a:latin typeface="Times New Roman" panose="02020603050405020304" pitchFamily="18" charset="0"/>
                <a:cs typeface="Times New Roman" panose="02020603050405020304" pitchFamily="18" charset="0"/>
              </a:rPr>
              <a:t>Removing Duplicates </a:t>
            </a:r>
          </a:p>
          <a:p>
            <a:pPr marL="0" lvl="0" indent="0" eaLnBrk="0" fontAlgn="base" hangingPunct="0">
              <a:lnSpc>
                <a:spcPct val="100000"/>
              </a:lnSpc>
              <a:spcBef>
                <a:spcPct val="0"/>
              </a:spcBef>
              <a:spcAft>
                <a:spcPct val="0"/>
              </a:spcAft>
              <a:buClrTx/>
              <a:buFontTx/>
              <a:buChar char="•"/>
            </a:pPr>
            <a:r>
              <a:rPr lang="en-US" altLang="en-US" sz="1900" cap="none" dirty="0">
                <a:latin typeface="Times New Roman" panose="02020603050405020304" pitchFamily="18" charset="0"/>
                <a:cs typeface="Times New Roman" panose="02020603050405020304" pitchFamily="18" charset="0"/>
              </a:rPr>
              <a:t>Data Cleaning </a:t>
            </a:r>
          </a:p>
          <a:p>
            <a:pPr marL="0" lvl="0" indent="0" eaLnBrk="0" fontAlgn="base" hangingPunct="0">
              <a:lnSpc>
                <a:spcPct val="100000"/>
              </a:lnSpc>
              <a:spcBef>
                <a:spcPct val="0"/>
              </a:spcBef>
              <a:spcAft>
                <a:spcPct val="0"/>
              </a:spcAft>
              <a:buClrTx/>
              <a:buFontTx/>
              <a:buChar char="•"/>
            </a:pPr>
            <a:r>
              <a:rPr lang="en-US" altLang="en-US" sz="1900" cap="none" dirty="0">
                <a:latin typeface="Times New Roman" panose="02020603050405020304" pitchFamily="18" charset="0"/>
                <a:cs typeface="Times New Roman" panose="02020603050405020304" pitchFamily="18" charset="0"/>
              </a:rPr>
              <a:t>Data Transformation </a:t>
            </a:r>
          </a:p>
          <a:p>
            <a:pPr marL="0" lvl="0" indent="0" eaLnBrk="0" fontAlgn="base" hangingPunct="0">
              <a:lnSpc>
                <a:spcPct val="100000"/>
              </a:lnSpc>
              <a:spcBef>
                <a:spcPct val="0"/>
              </a:spcBef>
              <a:spcAft>
                <a:spcPct val="0"/>
              </a:spcAft>
              <a:buClrTx/>
              <a:buFontTx/>
              <a:buChar char="•"/>
            </a:pPr>
            <a:r>
              <a:rPr lang="en-US" altLang="en-US" sz="1900" cap="none" dirty="0">
                <a:latin typeface="Times New Roman" panose="02020603050405020304" pitchFamily="18" charset="0"/>
                <a:cs typeface="Times New Roman" panose="02020603050405020304" pitchFamily="18" charset="0"/>
              </a:rPr>
              <a:t>Normalization / Scaling </a:t>
            </a:r>
          </a:p>
          <a:p>
            <a:pPr marL="0" lvl="0" indent="0" eaLnBrk="0" fontAlgn="base" hangingPunct="0">
              <a:lnSpc>
                <a:spcPct val="100000"/>
              </a:lnSpc>
              <a:spcBef>
                <a:spcPct val="0"/>
              </a:spcBef>
              <a:spcAft>
                <a:spcPct val="0"/>
              </a:spcAft>
              <a:buClrTx/>
              <a:buFontTx/>
              <a:buChar char="•"/>
            </a:pPr>
            <a:r>
              <a:rPr lang="en-US" altLang="en-US" sz="1900" cap="none" dirty="0">
                <a:latin typeface="Times New Roman" panose="02020603050405020304" pitchFamily="18" charset="0"/>
                <a:cs typeface="Times New Roman" panose="02020603050405020304" pitchFamily="18" charset="0"/>
              </a:rPr>
              <a:t>Outlier Detection </a:t>
            </a:r>
          </a:p>
          <a:p>
            <a:pPr marL="0" lvl="0" indent="0" eaLnBrk="0" fontAlgn="base" hangingPunct="0">
              <a:lnSpc>
                <a:spcPct val="100000"/>
              </a:lnSpc>
              <a:spcBef>
                <a:spcPct val="0"/>
              </a:spcBef>
              <a:spcAft>
                <a:spcPct val="0"/>
              </a:spcAft>
              <a:buClrTx/>
              <a:buFontTx/>
              <a:buChar char="•"/>
            </a:pPr>
            <a:r>
              <a:rPr lang="en-US" altLang="en-US" sz="1900" cap="none" dirty="0">
                <a:latin typeface="Times New Roman" panose="02020603050405020304" pitchFamily="18" charset="0"/>
                <a:cs typeface="Times New Roman" panose="02020603050405020304" pitchFamily="18" charset="0"/>
              </a:rPr>
              <a:t>Data Organization </a:t>
            </a:r>
          </a:p>
          <a:p>
            <a:pPr marL="0" lvl="0" indent="0" eaLnBrk="0" fontAlgn="base" hangingPunct="0">
              <a:lnSpc>
                <a:spcPct val="100000"/>
              </a:lnSpc>
              <a:spcBef>
                <a:spcPct val="0"/>
              </a:spcBef>
              <a:spcAft>
                <a:spcPct val="0"/>
              </a:spcAft>
              <a:buClrTx/>
              <a:buFontTx/>
              <a:buChar char="•"/>
            </a:pPr>
            <a:endParaRPr lang="en-US" altLang="en-US" sz="1600" cap="none"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None/>
            </a:pPr>
            <a:r>
              <a:rPr lang="en-US" altLang="en-US" sz="1600" b="1" cap="none" dirty="0">
                <a:latin typeface="Times New Roman" panose="02020603050405020304" pitchFamily="18" charset="0"/>
                <a:cs typeface="Times New Roman" panose="02020603050405020304" pitchFamily="18" charset="0"/>
              </a:rPr>
              <a:t>DESCRIPTIVE DATA AND VISUALIZATION:</a:t>
            </a:r>
          </a:p>
          <a:p>
            <a:pPr marL="0" lvl="0" indent="0" eaLnBrk="0" fontAlgn="base" hangingPunct="0">
              <a:lnSpc>
                <a:spcPct val="100000"/>
              </a:lnSpc>
              <a:spcBef>
                <a:spcPct val="0"/>
              </a:spcBef>
              <a:spcAft>
                <a:spcPct val="0"/>
              </a:spcAft>
              <a:buClrTx/>
              <a:buFontTx/>
              <a:buChar char="•"/>
            </a:pPr>
            <a:endParaRPr lang="en-US" altLang="en-US" sz="1600" cap="none"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None/>
            </a:pPr>
            <a:r>
              <a:rPr lang="en-US" sz="1700" dirty="0">
                <a:latin typeface="Times New Roman" panose="02020603050405020304" pitchFamily="18" charset="0"/>
                <a:cs typeface="Times New Roman" panose="02020603050405020304" pitchFamily="18" charset="0"/>
              </a:rPr>
              <a:t>Descriptive statistics help us understand the data using average and range values.</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Visualization uses graphs like line charts and scatter plots to show patterns.</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These help us see how climate factors affect crop yield.</a:t>
            </a:r>
            <a:endParaRPr lang="en-US" altLang="en-US" sz="1700" cap="none"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478452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B7B21-8BD1-7FE5-E40B-CB4C510B8358}"/>
              </a:ext>
            </a:extLst>
          </p:cNvPr>
          <p:cNvSpPr>
            <a:spLocks noGrp="1"/>
          </p:cNvSpPr>
          <p:nvPr>
            <p:ph type="title"/>
          </p:nvPr>
        </p:nvSpPr>
        <p:spPr>
          <a:xfrm>
            <a:off x="913775" y="618518"/>
            <a:ext cx="10364451" cy="173220"/>
          </a:xfrm>
        </p:spPr>
        <p:txBody>
          <a:bodyPr>
            <a:noAutofit/>
          </a:bodyPr>
          <a:lstStyle/>
          <a:p>
            <a:r>
              <a:rPr lang="en-IN" sz="1800" b="1" dirty="0">
                <a:latin typeface="Times New Roman" panose="02020603050405020304" pitchFamily="18" charset="0"/>
                <a:cs typeface="Times New Roman" panose="02020603050405020304" pitchFamily="18" charset="0"/>
              </a:rPr>
              <a:t>Exploratory data </a:t>
            </a:r>
            <a:r>
              <a:rPr lang="en-IN" sz="1800" b="1" dirty="0" err="1">
                <a:latin typeface="Times New Roman" panose="02020603050405020304" pitchFamily="18" charset="0"/>
                <a:cs typeface="Times New Roman" panose="02020603050405020304" pitchFamily="18" charset="0"/>
              </a:rPr>
              <a:t>analsis</a:t>
            </a:r>
            <a:endParaRPr lang="en-IN" sz="1800" b="1"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ECA5CADD-C9D2-2CD9-14DD-305E5135B305}"/>
              </a:ext>
            </a:extLst>
          </p:cNvPr>
          <p:cNvSpPr txBox="1">
            <a:spLocks noGrp="1"/>
          </p:cNvSpPr>
          <p:nvPr>
            <p:ph sz="quarter" idx="13"/>
          </p:nvPr>
        </p:nvSpPr>
        <p:spPr>
          <a:xfrm>
            <a:off x="914400" y="992188"/>
            <a:ext cx="10363200" cy="7172092"/>
          </a:xfrm>
          <a:prstGeom prst="rect">
            <a:avLst/>
          </a:prstGeom>
          <a:noFill/>
        </p:spPr>
        <p:txBody>
          <a:bodyPr wrap="square">
            <a:spAutoFit/>
          </a:bodyPr>
          <a:lstStyle/>
          <a:p>
            <a:pPr marL="0" indent="0">
              <a:buNone/>
            </a:pPr>
            <a:r>
              <a:rPr lang="en-US" sz="1600" dirty="0">
                <a:latin typeface="Times New Roman" panose="02020603050405020304" pitchFamily="18" charset="0"/>
                <a:cs typeface="Times New Roman" panose="02020603050405020304" pitchFamily="18" charset="0"/>
              </a:rPr>
              <a:t>EDA is used to understand the dataset by using basic statistics and graphs.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It helps to find patterns, trends, and relationships between climate factors and crop yield.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step prepares the data before applying statistical models.</a:t>
            </a:r>
          </a:p>
          <a:p>
            <a:pPr marL="0" indent="0">
              <a:buNone/>
            </a:pPr>
            <a:r>
              <a:rPr lang="en-US" sz="1600" b="1" dirty="0">
                <a:latin typeface="Times New Roman" panose="02020603050405020304" pitchFamily="18" charset="0"/>
                <a:cs typeface="Times New Roman" panose="02020603050405020304" pitchFamily="18" charset="0"/>
              </a:rPr>
              <a:t>Advanced statistical techniques:</a:t>
            </a:r>
          </a:p>
          <a:p>
            <a:r>
              <a:rPr lang="en-US" sz="1600" dirty="0">
                <a:latin typeface="Times New Roman" panose="02020603050405020304" pitchFamily="18" charset="0"/>
                <a:cs typeface="Times New Roman" panose="02020603050405020304" pitchFamily="18" charset="0"/>
              </a:rPr>
              <a:t>Correlation → to see relationship between climate and crop yield </a:t>
            </a:r>
          </a:p>
          <a:p>
            <a:r>
              <a:rPr lang="en-US" sz="1600" dirty="0">
                <a:latin typeface="Times New Roman" panose="02020603050405020304" pitchFamily="18" charset="0"/>
                <a:cs typeface="Times New Roman" panose="02020603050405020304" pitchFamily="18" charset="0"/>
              </a:rPr>
              <a:t>Regression → to find important factors and predict yield </a:t>
            </a:r>
          </a:p>
          <a:p>
            <a:r>
              <a:rPr lang="en-US" sz="1600" dirty="0">
                <a:latin typeface="Times New Roman" panose="02020603050405020304" pitchFamily="18" charset="0"/>
                <a:cs typeface="Times New Roman" panose="02020603050405020304" pitchFamily="18" charset="0"/>
              </a:rPr>
              <a:t>ANOVA → to compare yield in different regions </a:t>
            </a:r>
          </a:p>
          <a:p>
            <a:r>
              <a:rPr lang="en-US" sz="1600" dirty="0">
                <a:latin typeface="Times New Roman" panose="02020603050405020304" pitchFamily="18" charset="0"/>
                <a:cs typeface="Times New Roman" panose="02020603050405020304" pitchFamily="18" charset="0"/>
              </a:rPr>
              <a:t>Time Series → to study changes over time </a:t>
            </a:r>
          </a:p>
          <a:p>
            <a:pPr marL="0" indent="0">
              <a:buNone/>
            </a:pPr>
            <a:r>
              <a:rPr lang="en-US" b="1" dirty="0">
                <a:latin typeface="Times New Roman" panose="02020603050405020304" pitchFamily="18" charset="0"/>
                <a:cs typeface="Times New Roman" panose="02020603050405020304" pitchFamily="18" charset="0"/>
              </a:rPr>
              <a:t>Interpretation of results:</a:t>
            </a:r>
          </a:p>
          <a:p>
            <a:pPr marL="0" lvl="0" indent="0" eaLnBrk="0" fontAlgn="base" hangingPunct="0">
              <a:lnSpc>
                <a:spcPct val="100000"/>
              </a:lnSpc>
              <a:spcBef>
                <a:spcPct val="0"/>
              </a:spcBef>
              <a:spcAft>
                <a:spcPct val="0"/>
              </a:spcAft>
              <a:buClrTx/>
              <a:buFontTx/>
              <a:buChar char="•"/>
            </a:pPr>
            <a:r>
              <a:rPr lang="en-US" altLang="en-US" cap="none" dirty="0">
                <a:latin typeface="Times New Roman" panose="02020603050405020304" pitchFamily="18" charset="0"/>
                <a:cs typeface="Times New Roman" panose="02020603050405020304" pitchFamily="18" charset="0"/>
              </a:rPr>
              <a:t>Climate factors like temperature and rainfall affect crop yield </a:t>
            </a:r>
          </a:p>
          <a:p>
            <a:pPr marL="0" lvl="0" indent="0" eaLnBrk="0" fontAlgn="base" hangingPunct="0">
              <a:lnSpc>
                <a:spcPct val="100000"/>
              </a:lnSpc>
              <a:spcBef>
                <a:spcPct val="0"/>
              </a:spcBef>
              <a:spcAft>
                <a:spcPct val="0"/>
              </a:spcAft>
              <a:buClrTx/>
              <a:buFontTx/>
              <a:buChar char="•"/>
            </a:pPr>
            <a:r>
              <a:rPr lang="en-US" altLang="en-US" cap="none" dirty="0">
                <a:latin typeface="Times New Roman" panose="02020603050405020304" pitchFamily="18" charset="0"/>
                <a:cs typeface="Times New Roman" panose="02020603050405020304" pitchFamily="18" charset="0"/>
              </a:rPr>
              <a:t>Temperature reduces yield, while rainfall helps improve it </a:t>
            </a:r>
          </a:p>
          <a:p>
            <a:pPr marL="0" lvl="0" indent="0" eaLnBrk="0" fontAlgn="base" hangingPunct="0">
              <a:lnSpc>
                <a:spcPct val="100000"/>
              </a:lnSpc>
              <a:spcBef>
                <a:spcPct val="0"/>
              </a:spcBef>
              <a:spcAft>
                <a:spcPct val="0"/>
              </a:spcAft>
              <a:buClrTx/>
              <a:buFontTx/>
              <a:buChar char="•"/>
            </a:pPr>
            <a:r>
              <a:rPr lang="en-US" altLang="en-US" cap="none" dirty="0">
                <a:latin typeface="Times New Roman" panose="02020603050405020304" pitchFamily="18" charset="0"/>
                <a:cs typeface="Times New Roman" panose="02020603050405020304" pitchFamily="18" charset="0"/>
              </a:rPr>
              <a:t>Different regions and crops show different productivity levels </a:t>
            </a:r>
          </a:p>
          <a:p>
            <a:pPr marL="0" lvl="0" indent="0" eaLnBrk="0" fontAlgn="base" hangingPunct="0">
              <a:lnSpc>
                <a:spcPct val="100000"/>
              </a:lnSpc>
              <a:spcBef>
                <a:spcPct val="0"/>
              </a:spcBef>
              <a:spcAft>
                <a:spcPct val="0"/>
              </a:spcAft>
              <a:buClrTx/>
              <a:buFontTx/>
              <a:buChar char="•"/>
            </a:pPr>
            <a:r>
              <a:rPr lang="en-US" altLang="en-US" cap="none" dirty="0">
                <a:latin typeface="Times New Roman" panose="02020603050405020304" pitchFamily="18" charset="0"/>
                <a:cs typeface="Times New Roman" panose="02020603050405020304" pitchFamily="18" charset="0"/>
              </a:rPr>
              <a:t>Crop yield changes over time due to climate changes </a:t>
            </a:r>
          </a:p>
          <a:p>
            <a:pPr marL="0" lvl="0" indent="0" eaLnBrk="0" fontAlgn="base" hangingPunct="0">
              <a:lnSpc>
                <a:spcPct val="100000"/>
              </a:lnSpc>
              <a:spcBef>
                <a:spcPct val="0"/>
              </a:spcBef>
              <a:spcAft>
                <a:spcPct val="0"/>
              </a:spcAft>
              <a:buClrTx/>
              <a:buFontTx/>
              <a:buChar char="•"/>
            </a:pPr>
            <a:r>
              <a:rPr lang="en-US" altLang="en-US" cap="none" dirty="0">
                <a:latin typeface="Times New Roman" panose="02020603050405020304" pitchFamily="18" charset="0"/>
                <a:cs typeface="Times New Roman" panose="02020603050405020304" pitchFamily="18" charset="0"/>
              </a:rPr>
              <a:t>The model can be used to predict crop yield </a:t>
            </a:r>
          </a:p>
          <a:p>
            <a:endParaRPr lang="en-US" dirty="0">
              <a:latin typeface="Times New Roman" panose="02020603050405020304" pitchFamily="18" charset="0"/>
              <a:cs typeface="Times New Roman" panose="02020603050405020304" pitchFamily="18" charset="0"/>
            </a:endParaRP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438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3F030C-BBB8-B4A0-9A25-7854645819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914400"/>
            <a:ext cx="10287000" cy="4995746"/>
          </a:xfrm>
          <a:prstGeom prst="rect">
            <a:avLst/>
          </a:prstGeom>
        </p:spPr>
      </p:pic>
    </p:spTree>
    <p:extLst>
      <p:ext uri="{BB962C8B-B14F-4D97-AF65-F5344CB8AC3E}">
        <p14:creationId xmlns:p14="http://schemas.microsoft.com/office/powerpoint/2010/main" val="3035408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458D-9FEC-7A18-AD4C-8F8001D77A70}"/>
              </a:ext>
            </a:extLst>
          </p:cNvPr>
          <p:cNvSpPr>
            <a:spLocks noGrp="1"/>
          </p:cNvSpPr>
          <p:nvPr>
            <p:ph type="title"/>
          </p:nvPr>
        </p:nvSpPr>
        <p:spPr>
          <a:xfrm>
            <a:off x="913775" y="618517"/>
            <a:ext cx="10364451" cy="1299493"/>
          </a:xfrm>
        </p:spPr>
        <p:txBody>
          <a:bodyPr>
            <a:normAutofit/>
          </a:bodyPr>
          <a:lstStyle/>
          <a:p>
            <a:r>
              <a:rPr lang="en-IN" sz="2400" b="1" dirty="0">
                <a:latin typeface="Times New Roman" panose="02020603050405020304" pitchFamily="18" charset="0"/>
                <a:cs typeface="Times New Roman" panose="02020603050405020304" pitchFamily="18" charset="0"/>
              </a:rPr>
              <a:t>references</a:t>
            </a:r>
          </a:p>
        </p:txBody>
      </p:sp>
      <p:sp>
        <p:nvSpPr>
          <p:cNvPr id="6" name="TextBox 5">
            <a:extLst>
              <a:ext uri="{FF2B5EF4-FFF2-40B4-BE49-F238E27FC236}">
                <a16:creationId xmlns:a16="http://schemas.microsoft.com/office/drawing/2014/main" id="{3F73DFC3-41F4-504D-3C76-88D9E3AA55BD}"/>
              </a:ext>
            </a:extLst>
          </p:cNvPr>
          <p:cNvSpPr txBox="1"/>
          <p:nvPr/>
        </p:nvSpPr>
        <p:spPr>
          <a:xfrm>
            <a:off x="501805" y="1647467"/>
            <a:ext cx="10883590" cy="467820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1</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.Cheng Zhao et al. (2023).</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Climate Change Impact on Crop Yield.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Scientific Reports, 13, 30813.</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2.S. Kumar (2025).</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 of Weather Variability on Crop Yields.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MPRA Paper, 125806.</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3.X. Hu et al. (2024).</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Crop Yield Response to Climate Variability.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4.Q. Li et al. (2026).</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 of Abnormal Temperature on Crop Yield.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arXiv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Preprint. </a:t>
            </a:r>
          </a:p>
          <a:p>
            <a:pPr marL="0" marR="0" lvl="0" indent="0" algn="l" defTabSz="914400" rtl="0" eaLnBrk="0" fontAlgn="base" latinLnBrk="0" hangingPunct="0">
              <a:lnSpc>
                <a:spcPct val="100000"/>
              </a:lnSpc>
              <a:spcBef>
                <a:spcPct val="0"/>
              </a:spcBef>
              <a:spcAft>
                <a:spcPct val="0"/>
              </a:spcAft>
              <a:buClrTx/>
              <a:buSzTx/>
              <a:tabLst/>
            </a:pPr>
            <a:endParaRPr lang="en-US" altLang="en-US" sz="2000"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pPr>
            <a:r>
              <a:rPr lang="en-IN" sz="2000" dirty="0">
                <a:latin typeface="Times New Roman" panose="02020603050405020304" pitchFamily="18" charset="0"/>
                <a:cs typeface="Times New Roman" panose="02020603050405020304" pitchFamily="18" charset="0"/>
              </a:rPr>
              <a:t>5.Toshichika </a:t>
            </a:r>
            <a:r>
              <a:rPr lang="en-IN" sz="2000" dirty="0" err="1">
                <a:latin typeface="Times New Roman" panose="02020603050405020304" pitchFamily="18" charset="0"/>
                <a:cs typeface="Times New Roman" panose="02020603050405020304" pitchFamily="18" charset="0"/>
              </a:rPr>
              <a:t>Iizumi</a:t>
            </a:r>
            <a:r>
              <a:rPr lang="en-IN" sz="2000" dirty="0">
                <a:latin typeface="Times New Roman" panose="02020603050405020304" pitchFamily="18" charset="0"/>
                <a:cs typeface="Times New Roman" panose="02020603050405020304" pitchFamily="18" charset="0"/>
              </a:rPr>
              <a:t> &amp; Navin </a:t>
            </a:r>
            <a:r>
              <a:rPr lang="en-IN" sz="2000" dirty="0" err="1">
                <a:latin typeface="Times New Roman" panose="02020603050405020304" pitchFamily="18" charset="0"/>
                <a:cs typeface="Times New Roman" panose="02020603050405020304" pitchFamily="18" charset="0"/>
              </a:rPr>
              <a:t>Ramankutty</a:t>
            </a:r>
            <a:r>
              <a:rPr lang="en-IN" sz="2000" dirty="0">
                <a:latin typeface="Times New Roman" panose="02020603050405020304" pitchFamily="18" charset="0"/>
                <a:cs typeface="Times New Roman" panose="02020603050405020304" pitchFamily="18" charset="0"/>
              </a:rPr>
              <a:t> (2022).</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Global Crop Yield Sensitivity to Climate Change.</a:t>
            </a:r>
            <a:r>
              <a:rPr lang="en-IN" sz="2000"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92848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DC6F3C-BF9B-840A-CBD4-10A71CE0B79A}"/>
              </a:ext>
            </a:extLst>
          </p:cNvPr>
          <p:cNvSpPr txBox="1"/>
          <p:nvPr/>
        </p:nvSpPr>
        <p:spPr>
          <a:xfrm>
            <a:off x="1996068" y="2954402"/>
            <a:ext cx="9308479" cy="1446550"/>
          </a:xfrm>
          <a:prstGeom prst="rect">
            <a:avLst/>
          </a:prstGeom>
          <a:noFill/>
        </p:spPr>
        <p:txBody>
          <a:bodyPr wrap="square">
            <a:spAutoFit/>
          </a:bodyPr>
          <a:lstStyle/>
          <a:p>
            <a:r>
              <a:rPr lang="en-IN" sz="4400" dirty="0">
                <a:latin typeface="Times New Roman" panose="02020603050405020304" pitchFamily="18" charset="0"/>
                <a:cs typeface="Times New Roman" panose="02020603050405020304" pitchFamily="18" charset="0"/>
              </a:rPr>
              <a:t>                     Thank You</a:t>
            </a:r>
          </a:p>
          <a:p>
            <a:r>
              <a:rPr lang="en-IN" sz="4400" dirty="0">
                <a:latin typeface="Times New Roman" panose="02020603050405020304" pitchFamily="18" charset="0"/>
                <a:cs typeface="Times New Roman" panose="02020603050405020304" pitchFamily="18" charset="0"/>
              </a:rPr>
              <a:t>           Queries &amp; Suggestions</a:t>
            </a:r>
          </a:p>
        </p:txBody>
      </p:sp>
    </p:spTree>
    <p:extLst>
      <p:ext uri="{BB962C8B-B14F-4D97-AF65-F5344CB8AC3E}">
        <p14:creationId xmlns:p14="http://schemas.microsoft.com/office/powerpoint/2010/main" val="377667296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
  <TotalTime>173</TotalTime>
  <Words>1059</Words>
  <Application>Microsoft Office PowerPoint</Application>
  <PresentationFormat>Widescreen</PresentationFormat>
  <Paragraphs>110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Tw Cen MT</vt:lpstr>
      <vt:lpstr>Wingdings</vt:lpstr>
      <vt:lpstr>Droplet</vt:lpstr>
      <vt:lpstr>PowerPoint Presentation</vt:lpstr>
      <vt:lpstr>INTRODUCTION</vt:lpstr>
      <vt:lpstr>PowerPoint Presentation</vt:lpstr>
      <vt:lpstr>Motivation for Research</vt:lpstr>
      <vt:lpstr>Literature review</vt:lpstr>
      <vt:lpstr>PowerPoint Presentation</vt:lpstr>
      <vt:lpstr>Problem statement</vt:lpstr>
      <vt:lpstr>Research objectives</vt:lpstr>
      <vt:lpstr>methodology</vt:lpstr>
      <vt:lpstr>Exploratory data analsis</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bhupendar bodhan</dc:creator>
  <cp:lastModifiedBy>bhupendar bodhan</cp:lastModifiedBy>
  <cp:revision>3</cp:revision>
  <dcterms:created xsi:type="dcterms:W3CDTF">2026-04-14T04:33:44Z</dcterms:created>
  <dcterms:modified xsi:type="dcterms:W3CDTF">2026-04-15T11:46:21Z</dcterms:modified>
</cp:coreProperties>
</file>