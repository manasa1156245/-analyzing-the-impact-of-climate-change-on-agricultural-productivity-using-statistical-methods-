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73" r:id="rId4"/>
    <p:sldId id="257" r:id="rId5"/>
    <p:sldId id="261" r:id="rId6"/>
    <p:sldId id="262" r:id="rId7"/>
    <p:sldId id="274" r:id="rId8"/>
    <p:sldId id="263" r:id="rId9"/>
    <p:sldId id="275" r:id="rId10"/>
    <p:sldId id="264" r:id="rId11"/>
    <p:sldId id="276" r:id="rId12"/>
    <p:sldId id="265" r:id="rId13"/>
    <p:sldId id="277" r:id="rId14"/>
    <p:sldId id="266" r:id="rId15"/>
    <p:sldId id="278" r:id="rId16"/>
    <p:sldId id="267" r:id="rId17"/>
    <p:sldId id="268" r:id="rId18"/>
    <p:sldId id="269" r:id="rId19"/>
    <p:sldId id="270" r:id="rId20"/>
    <p:sldId id="271" r:id="rId21"/>
    <p:sldId id="272" r:id="rId22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79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800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BDF7-503D-68B5-1F61-7039D5E1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AAB2C-17CC-E2C2-A32F-BAAC5E171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C27D3-61C6-A03B-65E6-9E0AA8D1C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2F3FF-5EF0-9BFD-A8F8-7B0AC4D32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75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flip="none" rotWithShape="1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flip="none" rotWithShape="1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3234518" y="818866"/>
            <a:ext cx="11243481" cy="2374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Analyzing the Impact of Climate Change on Agricultural Productivity Using Statistical Methods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48000" y="330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Project Report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48000" y="3302000"/>
            <a:ext cx="110236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Post Graduate College (OU) </a:t>
            </a:r>
            <a:r>
              <a:rPr lang="en-US" sz="2000" b="1" dirty="0" err="1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Secunderabad</a:t>
            </a:r>
            <a:endParaRPr lang="en-US" sz="2000" b="1" dirty="0"/>
          </a:p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Constituent College of Osmania University</a:t>
            </a:r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 of Computer Science| M.Sc. Data Science II Year [2024-2026]</a:t>
            </a:r>
            <a:endParaRPr lang="en-US" sz="2000" b="1" dirty="0">
              <a:solidFill>
                <a:srgbClr val="3C4A5A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Submitted by</a:t>
            </a:r>
          </a:p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</a:t>
            </a:r>
            <a:r>
              <a:rPr lang="en-US" sz="2000" b="1" dirty="0" err="1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B.Manasa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                               101024559011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17999" y="7112000"/>
            <a:ext cx="875655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Under the Guidance of </a:t>
            </a:r>
            <a:r>
              <a:rPr lang="en-US" sz="3200" b="1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Dr. B. Ranganatha Rao</a:t>
            </a:r>
          </a:p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Assistant </a:t>
            </a:r>
            <a:r>
              <a:rPr lang="en-US" sz="2400" b="1" dirty="0" err="1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Professor,Dept</a:t>
            </a:r>
            <a:r>
              <a:rPr lang="en-US" sz="2400" b="1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of Computer Science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88000" y="7112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567D81-F5E2-F8F1-C9ED-946D33811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1" y="2794000"/>
            <a:ext cx="3454398" cy="40512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D9764-9F04-5796-370B-26AAC692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AEF2CA-080F-78CC-E553-E66AA85550BA}"/>
              </a:ext>
            </a:extLst>
          </p:cNvPr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FBE46C-A911-F759-63F0-B0C4D55FD36D}"/>
              </a:ext>
            </a:extLst>
          </p:cNvPr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flip="none" rotWithShape="1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25FE34-A062-8EBF-9FF6-8CB79A05B35E}"/>
              </a:ext>
            </a:extLst>
          </p:cNvPr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A487FF-3001-56E1-4B4B-114F2AE460D2}"/>
              </a:ext>
            </a:extLst>
          </p:cNvPr>
          <p:cNvSpPr/>
          <p:nvPr/>
        </p:nvSpPr>
        <p:spPr>
          <a:xfrm>
            <a:off x="2286000" y="2540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ACA8DB7-815C-B007-555C-49ECE039A83D}"/>
              </a:ext>
            </a:extLst>
          </p:cNvPr>
          <p:cNvSpPr/>
          <p:nvPr/>
        </p:nvSpPr>
        <p:spPr>
          <a:xfrm>
            <a:off x="1270000" y="2070100"/>
            <a:ext cx="12700000" cy="580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Agriculture is highly dependent on climate conditions such as </a:t>
            </a:r>
            <a:r>
              <a:rPr lang="en-IN" sz="2400" dirty="0" err="1"/>
              <a:t>temperature,rainfall,etc</a:t>
            </a:r>
            <a:r>
              <a:rPr lang="en-IN" sz="2400" dirty="0"/>
              <a:t>..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 recent years , Climate change is one of the major factors affecting agricultural productivity worldwide. 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Variations in temperature, precipitation, and environmental conditions can significantly influence crop yield and food security.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This project </a:t>
            </a:r>
            <a:r>
              <a:rPr lang="en-IN" sz="2400" dirty="0" err="1"/>
              <a:t>analyzes</a:t>
            </a:r>
            <a:r>
              <a:rPr lang="en-IN" sz="2400" dirty="0"/>
              <a:t> the impact of climate change on agricultural productivity using statistical methods such as Correlation Analysis, Multiple Linear Regression, ANOVA, Trend Analysis, and the Kruskal–Wallis Test.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study provides data-driven insights into climate-agriculture relationships and supports sustainable agricultural decision-making.</a:t>
            </a:r>
          </a:p>
          <a:p>
            <a:endParaRPr lang="en-IN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9CC33D-5E3B-DE96-7808-5AE14070E7CE}"/>
              </a:ext>
            </a:extLst>
          </p:cNvPr>
          <p:cNvSpPr/>
          <p:nvPr/>
        </p:nvSpPr>
        <p:spPr>
          <a:xfrm>
            <a:off x="2286000" y="4572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4C7BE06-CC5A-D2BF-018A-CEEF38528B44}"/>
              </a:ext>
            </a:extLst>
          </p:cNvPr>
          <p:cNvSpPr/>
          <p:nvPr/>
        </p:nvSpPr>
        <p:spPr>
          <a:xfrm>
            <a:off x="2286000" y="558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4E4FA7B-1E3E-1A55-22DF-CD96E9331098}"/>
              </a:ext>
            </a:extLst>
          </p:cNvPr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3836360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flip="none" rotWithShape="1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70000" y="2120900"/>
            <a:ext cx="12700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24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558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CCE1FA-C13D-CAEA-6729-07A33F796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7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06035" y="5595874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CF01C-FA61-11C2-6C05-1AC6C1204F15}"/>
              </a:ext>
            </a:extLst>
          </p:cNvPr>
          <p:cNvSpPr txBox="1"/>
          <p:nvPr/>
        </p:nvSpPr>
        <p:spPr>
          <a:xfrm>
            <a:off x="1270000" y="462787"/>
            <a:ext cx="13716000" cy="11519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CFDF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Research Objectives</a:t>
            </a:r>
          </a:p>
          <a:p>
            <a:pPr algn="l">
              <a:lnSpc>
                <a:spcPct val="120000"/>
              </a:lnSpc>
            </a:pPr>
            <a:endParaRPr lang="en-US" sz="2800" dirty="0">
              <a:solidFill>
                <a:srgbClr val="FCFDFD"/>
              </a:solidFill>
              <a:latin typeface="Times New Roman" panose="02020603050405020304" pitchFamily="18" charset="0"/>
              <a:ea typeface="Liter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3C4A5A"/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Objective 1: Analyze the relationship between climate variables and crop yield using correlation coefficients and heatmap visualization.</a:t>
            </a: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3C4A5A"/>
              </a:solidFill>
              <a:highlight>
                <a:srgbClr val="C0C0C0"/>
              </a:highlight>
              <a:latin typeface="Times New Roman" panose="02020603050405020304" pitchFamily="18" charset="0"/>
              <a:ea typeface="Liter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3C4A5A"/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Objective 2: Determine the impact of climate variables on crop yield and identify the most significant factors.</a:t>
            </a: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3C4A5A"/>
              </a:solidFill>
              <a:highlight>
                <a:srgbClr val="C0C0C0"/>
              </a:highlight>
              <a:latin typeface="Times New Roman" panose="02020603050405020304" pitchFamily="18" charset="0"/>
              <a:ea typeface="Liter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3C4A5A"/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Objective 3: Compare agricultural productivity across countries, regions, crop types, and adaptation strategies.</a:t>
            </a: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3C4A5A"/>
              </a:solidFill>
              <a:highlight>
                <a:srgbClr val="C0C0C0"/>
              </a:highlight>
              <a:latin typeface="Times New Roman" panose="02020603050405020304" pitchFamily="18" charset="0"/>
              <a:ea typeface="Liter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3C4A5A"/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Objective 4: </a:t>
            </a:r>
            <a:r>
              <a:rPr lang="en-IN" sz="28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trends and patterns in agricultural productivity over time using crop yield data.</a:t>
            </a:r>
          </a:p>
          <a:p>
            <a:pPr>
              <a:lnSpc>
                <a:spcPct val="120000"/>
              </a:lnSpc>
            </a:pPr>
            <a:endParaRPr lang="en-IN" sz="2800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3C4A5A"/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Objective 5: </a:t>
            </a:r>
            <a:r>
              <a:rPr lang="en-IN" sz="28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effectiveness of different adaptation strategies in maintaining agricultural productivity under changing climatic conditions.</a:t>
            </a:r>
            <a:endParaRPr lang="en-US" sz="2800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 algn="l">
              <a:lnSpc>
                <a:spcPct val="120000"/>
              </a:lnSpc>
            </a:pPr>
            <a:endParaRPr lang="en-US" sz="1800" dirty="0">
              <a:solidFill>
                <a:srgbClr val="FCFDFD"/>
              </a:solidFill>
              <a:latin typeface="Liter" pitchFamily="34" charset="0"/>
              <a:ea typeface="Liter" pitchFamily="34" charset="-122"/>
            </a:endParaRPr>
          </a:p>
          <a:p>
            <a:pPr algn="l">
              <a:lnSpc>
                <a:spcPct val="120000"/>
              </a:lnSpc>
            </a:pPr>
            <a:endParaRPr lang="en-US" dirty="0">
              <a:solidFill>
                <a:srgbClr val="FCFDFD"/>
              </a:solidFill>
              <a:latin typeface="Liter" pitchFamily="34" charset="0"/>
              <a:ea typeface="Liter" pitchFamily="34" charset="-122"/>
            </a:endParaRPr>
          </a:p>
          <a:p>
            <a:pPr algn="l">
              <a:lnSpc>
                <a:spcPct val="120000"/>
              </a:lnSpc>
            </a:pPr>
            <a:endParaRPr lang="en-US" sz="1800" dirty="0">
              <a:solidFill>
                <a:srgbClr val="FCFDFD"/>
              </a:solidFill>
              <a:latin typeface="Liter" pitchFamily="34" charset="0"/>
              <a:ea typeface="Liter" pitchFamily="34" charset="-122"/>
            </a:endParaRPr>
          </a:p>
          <a:p>
            <a:pPr algn="l">
              <a:lnSpc>
                <a:spcPct val="120000"/>
              </a:lnSpc>
            </a:pPr>
            <a:endParaRPr lang="en-US" dirty="0">
              <a:solidFill>
                <a:srgbClr val="FCFDFD"/>
              </a:solidFill>
              <a:latin typeface="Liter" pitchFamily="34" charset="0"/>
              <a:ea typeface="Liter" pitchFamily="34" charset="-122"/>
            </a:endParaRPr>
          </a:p>
          <a:p>
            <a:pPr algn="l">
              <a:lnSpc>
                <a:spcPct val="120000"/>
              </a:lnSpc>
            </a:pP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 1: Correlation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4318000" cy="4572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Pearson Correlation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540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the relationship between climate variables and crop yield using correlation coefficients and heatmap visualization.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810000"/>
            <a:ext cx="7620000" cy="406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51000" y="4000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51000" y="45720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Temperature: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 = 0.264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(strongest positive link)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Precipitation: weak positive relationship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CO2 Emissions: weak negative relationship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Irrigation Access: negligible relationship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Soil Health Index: negligible relationship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71000" y="2540000"/>
            <a:ext cx="5588000" cy="2413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9652000" y="273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Strongest Correlation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52000" y="3175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 = 0.264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9652000" y="425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 vs Crop Yield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5334000"/>
            <a:ext cx="558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52000" y="552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Outputs Generated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52000" y="6032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Correlation Matrix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Correlation Heatmap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Correlation Coefficients (r)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0D4C22-CCEC-AAD6-D4F4-D08B7B6D2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27000"/>
            <a:ext cx="7671973" cy="4442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396BE2-E59A-66B6-5176-E7F7D34F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800" y="127000"/>
            <a:ext cx="7518400" cy="4838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F11989-2397-ED54-D4DB-162816A7A5C7}"/>
              </a:ext>
            </a:extLst>
          </p:cNvPr>
          <p:cNvSpPr txBox="1"/>
          <p:nvPr/>
        </p:nvSpPr>
        <p:spPr>
          <a:xfrm rot="10800000" flipV="1">
            <a:off x="266700" y="5026383"/>
            <a:ext cx="7035798" cy="3838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Correlation Heatmap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heatmap is simply a visual version of the correlation matrix.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Instead of numbers alone, </a:t>
            </a:r>
            <a:r>
              <a:rPr lang="en-IN" sz="2000" dirty="0" err="1"/>
              <a:t>colors</a:t>
            </a:r>
            <a:r>
              <a:rPr lang="en-IN" sz="2000" dirty="0"/>
              <a:t> represent the strength of relationships: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🟢 Dark Positive </a:t>
            </a:r>
            <a:r>
              <a:rPr lang="en-IN" sz="2000" dirty="0" err="1"/>
              <a:t>Color</a:t>
            </a:r>
            <a:r>
              <a:rPr lang="en-IN" sz="2000" dirty="0"/>
              <a:t> → Strong Positive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🔴 Dark Negative </a:t>
            </a:r>
            <a:r>
              <a:rPr lang="en-IN" sz="2000" dirty="0" err="1"/>
              <a:t>Color</a:t>
            </a:r>
            <a:r>
              <a:rPr lang="en-IN" sz="2000" dirty="0"/>
              <a:t> → Strong Negative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⚪ Light </a:t>
            </a:r>
            <a:r>
              <a:rPr lang="en-IN" sz="2000" dirty="0" err="1"/>
              <a:t>Color</a:t>
            </a:r>
            <a:r>
              <a:rPr lang="en-IN" sz="2000" dirty="0"/>
              <a:t> → Weak or No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heatmap makes it easier for the examiner to quickly identify important relationships.</a:t>
            </a:r>
          </a:p>
          <a:p>
            <a:pPr algn="l">
              <a:lnSpc>
                <a:spcPct val="17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0AFB8-44F4-5146-A156-D510CD7C2F3A}"/>
              </a:ext>
            </a:extLst>
          </p:cNvPr>
          <p:cNvSpPr txBox="1"/>
          <p:nvPr/>
        </p:nvSpPr>
        <p:spPr>
          <a:xfrm>
            <a:off x="7670800" y="5422034"/>
            <a:ext cx="83185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was identified as the most influential climate variable affecting crop yield.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factors impact agricultural productivity, but their influence is moderate and depends on multiple interacting factors.</a:t>
            </a:r>
          </a:p>
        </p:txBody>
      </p:sp>
    </p:spTree>
    <p:extLst>
      <p:ext uri="{BB962C8B-B14F-4D97-AF65-F5344CB8AC3E}">
        <p14:creationId xmlns:p14="http://schemas.microsoft.com/office/powerpoint/2010/main" val="118927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 2: Multiple Linear Regression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Linear 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5400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Determine the impact of climate variables on crop yield and identify the most significant factors.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810000"/>
            <a:ext cx="4318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70000" y="3937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R-Squared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3815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0.0679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270000" y="5270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6.79% variance explained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69000" y="3810000"/>
            <a:ext cx="4318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69000" y="3937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43815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Evaluated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969000" y="5270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Mean Absolute Error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68000" y="3810000"/>
            <a:ext cx="4318000" cy="20320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10668000" y="3937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0" y="43815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Evaluated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0668000" y="5270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 Mean Square Error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70000" y="6223000"/>
            <a:ext cx="1371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51000" y="6350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51000" y="68580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Climate variables </a:t>
            </a: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collectively influence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crop yield.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was identified as the most important factor affecting agricultural productivity.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58C873-5BC4-AFAA-0F82-5ECD70777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247746"/>
            <a:ext cx="7391400" cy="54672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29F62E-2110-6330-68BA-17FFB6F8C93E}"/>
              </a:ext>
            </a:extLst>
          </p:cNvPr>
          <p:cNvSpPr txBox="1"/>
          <p:nvPr/>
        </p:nvSpPr>
        <p:spPr>
          <a:xfrm rot="10800000" flipV="1">
            <a:off x="8877300" y="4088894"/>
            <a:ext cx="64643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is the most important predictor of crop yield.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emissions are the strongest negative predictor.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confirms that climate variables influence agricultural productivity.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quantifies the contribution of each factor affecting crop yield.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3DC5A-6C61-7137-499F-0260FD8BF3CC}"/>
              </a:ext>
            </a:extLst>
          </p:cNvPr>
          <p:cNvSpPr txBox="1"/>
          <p:nvPr/>
        </p:nvSpPr>
        <p:spPr>
          <a:xfrm rot="10800000" flipV="1">
            <a:off x="520700" y="6118574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What does the graph show?</a:t>
            </a:r>
          </a:p>
          <a:p>
            <a:pPr>
              <a:buNone/>
            </a:pPr>
            <a:r>
              <a:rPr lang="en-IN" sz="2000" dirty="0"/>
              <a:t>The graph shows the </a:t>
            </a:r>
            <a:r>
              <a:rPr lang="en-IN" sz="2000" b="1" dirty="0"/>
              <a:t>importance and direction of influence</a:t>
            </a:r>
            <a:r>
              <a:rPr lang="en-IN" sz="2000" dirty="0"/>
              <a:t> of each feature on </a:t>
            </a:r>
            <a:r>
              <a:rPr lang="en-IN" sz="2000" b="1" dirty="0"/>
              <a:t>Crop Yield</a:t>
            </a:r>
            <a:r>
              <a:rPr lang="en-IN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Green bars</a:t>
            </a:r>
            <a:r>
              <a:rPr lang="en-IN" sz="2000" dirty="0"/>
              <a:t> = Positive effect on crop yield.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Red bars</a:t>
            </a:r>
            <a:r>
              <a:rPr lang="en-IN" sz="2000" dirty="0"/>
              <a:t> = Negative effect on crop yield.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Longer bars</a:t>
            </a:r>
            <a:r>
              <a:rPr lang="en-IN" sz="2000" dirty="0"/>
              <a:t> = Stronger influence.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Shorter bars</a:t>
            </a:r>
            <a:r>
              <a:rPr lang="en-IN" sz="2000" dirty="0"/>
              <a:t> = Weaker influence.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9B9A9-43E2-382E-7B8C-F1849618C336}"/>
              </a:ext>
            </a:extLst>
          </p:cNvPr>
          <p:cNvSpPr txBox="1"/>
          <p:nvPr/>
        </p:nvSpPr>
        <p:spPr>
          <a:xfrm>
            <a:off x="8877300" y="901700"/>
            <a:ext cx="622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"The R² Score of 0.0679 indicates that climate and agricultural variables explain about 6.79% of the variability in crop yield. This suggests that crop yield is influenced not only by the variables included in the dataset but also by other external factors."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D8E5D-E5AF-0ED3-8885-F7B0649E6295}"/>
              </a:ext>
            </a:extLst>
          </p:cNvPr>
          <p:cNvSpPr txBox="1"/>
          <p:nvPr/>
        </p:nvSpPr>
        <p:spPr>
          <a:xfrm>
            <a:off x="8877300" y="2260600"/>
            <a:ext cx="6070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"MAE was used to measure the average prediction error of the regression model."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RMSE measures prediction error similar to MAE but gives more weight to larger errors.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60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 3: ANOVA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3810000" cy="4572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Analysis of Variance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5400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agricultural productivity across countries, regions, crop types, and adaptation strategies.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50981"/>
              </p:ext>
            </p:extLst>
          </p:nvPr>
        </p:nvGraphicFramePr>
        <p:xfrm>
          <a:off x="1270000" y="3810000"/>
          <a:ext cx="8890000" cy="3302000"/>
        </p:xfrm>
        <a:graphic>
          <a:graphicData uri="http://schemas.openxmlformats.org/drawingml/2006/table">
            <a:tbl>
              <a:tblPr/>
              <a:tblGrid>
                <a:gridCol w="311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Comparison Group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F-statistic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p-value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Significance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Countries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0.4532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0.9061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Significant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Regions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0.8977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0.6359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Significant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Crop Types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1.4774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0.1498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Significant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Adaptation Strategies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0.9852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0.4142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Significant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0668000" y="2540000"/>
            <a:ext cx="4318000" cy="457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22000" y="2730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Outputs</a:t>
            </a:r>
            <a:endParaRPr lang="en-US" sz="2200" dirty="0"/>
          </a:p>
        </p:txBody>
      </p:sp>
      <p:sp>
        <p:nvSpPr>
          <p:cNvPr id="7" name="Text 7"/>
          <p:cNvSpPr/>
          <p:nvPr/>
        </p:nvSpPr>
        <p:spPr>
          <a:xfrm>
            <a:off x="10922000" y="3365500"/>
            <a:ext cx="3810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F-statistic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p-value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Eta Squared (eta2)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Boxplot Visualizations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 Size: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 Squared measures variation explained by each factor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70000" y="7493000"/>
            <a:ext cx="13716000" cy="635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2" name="Text 9"/>
          <p:cNvSpPr/>
          <p:nvPr/>
        </p:nvSpPr>
        <p:spPr>
          <a:xfrm>
            <a:off x="1270000" y="7493000"/>
            <a:ext cx="1295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Finding:</a:t>
            </a: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 statistically significant differences in crop yield across any comparison groups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46F0F-18DB-283C-3C38-65ACC5AD6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0" y="242747"/>
            <a:ext cx="7163560" cy="4634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012E7F-260D-99C9-2FDE-FB249A5FC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1"/>
            <a:ext cx="7747000" cy="5397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A3BD01-4461-A66E-E975-51DD306E3C29}"/>
              </a:ext>
            </a:extLst>
          </p:cNvPr>
          <p:cNvSpPr txBox="1"/>
          <p:nvPr/>
        </p:nvSpPr>
        <p:spPr>
          <a:xfrm rot="10800000" flipV="1">
            <a:off x="342520" y="5072619"/>
            <a:ext cx="660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ANOVA test was conducted to compare crop yield across regions, crop types, countries, and adaptation strategies.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p-values are greater than 0.05.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boxplots show similar median crop yield values and overlapping distributions across categories.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category exhibits a substantial difference in agricultural productivity.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4C156-D41B-5E92-DB25-4F24A0E4F657}"/>
              </a:ext>
            </a:extLst>
          </p:cNvPr>
          <p:cNvSpPr txBox="1"/>
          <p:nvPr/>
        </p:nvSpPr>
        <p:spPr>
          <a:xfrm>
            <a:off x="7759700" y="5609989"/>
            <a:ext cx="7747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all p-values are greater than the significance level (α = 0.05), the null hypothesis cannot be rejected for any comparison group.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does not significantly affect crop yield.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Type does not significantly affect crop yield.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does not significantly affect crop yield.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Strategies do not significantly affect crop yield.</a:t>
            </a:r>
          </a:p>
        </p:txBody>
      </p:sp>
    </p:spTree>
    <p:extLst>
      <p:ext uri="{BB962C8B-B14F-4D97-AF65-F5344CB8AC3E}">
        <p14:creationId xmlns:p14="http://schemas.microsoft.com/office/powerpoint/2010/main" val="687246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 4: Trend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3302000" cy="4572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54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IN" dirty="0"/>
              <a:t>To identify trends and patterns in agricultural productivity over time using crop yield data.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414000" y="2540000"/>
            <a:ext cx="4572000" cy="495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668000" y="27305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668000" y="3365500"/>
            <a:ext cx="406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Crop yield remained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relatively stable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Minor fluctuations observed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sharp increase or decline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Outputs: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Trend Plot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Trend Slope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70000" y="7747000"/>
            <a:ext cx="13716000" cy="50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2" name="Text 9"/>
          <p:cNvSpPr/>
          <p:nvPr/>
        </p:nvSpPr>
        <p:spPr>
          <a:xfrm>
            <a:off x="1651000" y="77470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Conclusion:</a:t>
            </a: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Agricultural productivity demonstrated stable long-term behavior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1FF11A-2A3D-9DA8-C778-757047568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97301"/>
            <a:ext cx="8623300" cy="3594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470870-2346-1BBA-B6F3-C3DF4F9AFB01}"/>
              </a:ext>
            </a:extLst>
          </p:cNvPr>
          <p:cNvSpPr txBox="1"/>
          <p:nvPr/>
        </p:nvSpPr>
        <p:spPr>
          <a:xfrm>
            <a:off x="711200" y="3441700"/>
            <a:ext cx="121793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remained relatively stable over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year-to-year fluctuations were observed.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series was stationary (ADF p-value = 0.000595).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statistically significant long-term trend was found (Trend p-value = 0.3879).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098E3-D9F3-282D-9862-22C65BD7E762}"/>
              </a:ext>
            </a:extLst>
          </p:cNvPr>
          <p:cNvSpPr txBox="1"/>
          <p:nvPr/>
        </p:nvSpPr>
        <p:spPr>
          <a:xfrm>
            <a:off x="711200" y="5702300"/>
            <a:ext cx="13982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productivity exhibited stable long-term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minor fluctuations, and no significant increasing or decreasing trend was observed during the study period.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6826A-CD44-A7A3-234E-35D69DBC2AF0}"/>
              </a:ext>
            </a:extLst>
          </p:cNvPr>
          <p:cNvSpPr txBox="1"/>
          <p:nvPr/>
        </p:nvSpPr>
        <p:spPr>
          <a:xfrm>
            <a:off x="711200" y="1140936"/>
            <a:ext cx="117983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the graph represent?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(1990–2024)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Crop Yield (MT/HA)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point represents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crop yield for a particular year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is used to study how agricultural productivity changes over time.</a:t>
            </a:r>
          </a:p>
        </p:txBody>
      </p:sp>
    </p:spTree>
    <p:extLst>
      <p:ext uri="{BB962C8B-B14F-4D97-AF65-F5344CB8AC3E}">
        <p14:creationId xmlns:p14="http://schemas.microsoft.com/office/powerpoint/2010/main" val="1582378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 5: Kruskal-Wallis Test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4064000" cy="4572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Kruskal-Wallis H Test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54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IN" dirty="0"/>
              <a:t>To evaluate the effectiveness of different adaptation strategies in maintaining agricultural productivity under changing climatic conditions.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810000"/>
            <a:ext cx="6604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51000" y="40005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Outputs &amp; Metrics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51000" y="4635500"/>
            <a:ext cx="584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H-statistic: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Computed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p-value: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&gt; 0.05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Epsilon Squared: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Effect size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Boxplot: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Visual comparison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 Not Significant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810000"/>
            <a:ext cx="6604000" cy="3937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8763000" y="40005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63000" y="4635500"/>
            <a:ext cx="584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 significant differences in crop yields among adaptation strategies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Crop yield distributions were similar across all strategies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 single strategy showed substantially higher productivity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0000" y="8001000"/>
            <a:ext cx="13716000" cy="508000"/>
          </a:xfrm>
          <a:prstGeom prst="roundRect">
            <a:avLst>
              <a:gd name="adj" fmla="val 8000"/>
            </a:avLst>
          </a:prstGeom>
          <a:solidFill>
            <a:srgbClr val="D0D6DC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80010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Conclusion: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Adaptation strategies did not produce statistically significant differences in crop yield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B4DBEB-C95A-6211-A0F0-5219C27F5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786348"/>
            <a:ext cx="6121400" cy="4352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AFE239-E67D-B869-57E9-00F95C019B30}"/>
              </a:ext>
            </a:extLst>
          </p:cNvPr>
          <p:cNvSpPr txBox="1"/>
          <p:nvPr/>
        </p:nvSpPr>
        <p:spPr>
          <a:xfrm>
            <a:off x="774700" y="6144736"/>
            <a:ext cx="6337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the Boxplot Show?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Adaptation Strategies (coded as 0, 1, 2, 3, and 4)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Crop Yield (MT per HA)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box represents the distribution of crop yield for a particular adaptation strategy.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C1313-7883-9038-3006-8D796260A2D0}"/>
              </a:ext>
            </a:extLst>
          </p:cNvPr>
          <p:cNvSpPr txBox="1"/>
          <p:nvPr/>
        </p:nvSpPr>
        <p:spPr>
          <a:xfrm>
            <a:off x="7112000" y="786349"/>
            <a:ext cx="8483600" cy="8648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adaptation strategies have very similar median crop yield values (around 2.1–2.2 MT/HA).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spread of crop yield is nearly identical across all adaptation strategy groups.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interquartile ranges (box heights) are very similar.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crop yield values are approximately 5 MT/HA for all groups.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crop yield values are approximately 0.5 MT/HA for all groups.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adaptation strategy appears to consistently produce higher crop yields than the others.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distributions largely overlap, indicating similar productivity patterns across strategies. </a:t>
            </a:r>
          </a:p>
          <a:p>
            <a:pPr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boxplot suggests that crop yield distributions are very similar across all adaptation strategy groups. This visual observation supports the Kruskal–Wallis Test result: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Statistic = 4.191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= 0.381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Since: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= 0.381 &gt; 0.05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null hypothesis cannot be rejected.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statistically significant difference in crop yield among the adaptation strategies included in the dataset.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848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Methodology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Software, Libraries, and Statistical Techniques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and Python Libraries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572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1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42" y="238720"/>
                </a:moveTo>
                <a:cubicBezTo>
                  <a:pt x="587965" y="201930"/>
                  <a:pt x="568098" y="174188"/>
                  <a:pt x="525780" y="174188"/>
                </a:cubicBezTo>
                <a:lnTo>
                  <a:pt x="471215" y="174188"/>
                </a:lnTo>
                <a:lnTo>
                  <a:pt x="471215" y="230624"/>
                </a:lnTo>
                <a:cubicBezTo>
                  <a:pt x="471215" y="274439"/>
                  <a:pt x="428761" y="311348"/>
                  <a:pt x="380320" y="311348"/>
                </a:cubicBezTo>
                <a:lnTo>
                  <a:pt x="234995" y="311348"/>
                </a:lnTo>
                <a:cubicBezTo>
                  <a:pt x="195263" y="311348"/>
                  <a:pt x="162333" y="341114"/>
                  <a:pt x="162333" y="375999"/>
                </a:cubicBezTo>
                <a:lnTo>
                  <a:pt x="162333" y="497205"/>
                </a:lnTo>
                <a:cubicBezTo>
                  <a:pt x="162333" y="531733"/>
                  <a:pt x="196623" y="551974"/>
                  <a:pt x="234995" y="561856"/>
                </a:cubicBezTo>
                <a:cubicBezTo>
                  <a:pt x="280987" y="573643"/>
                  <a:pt x="325211" y="575786"/>
                  <a:pt x="380320" y="561856"/>
                </a:cubicBezTo>
                <a:cubicBezTo>
                  <a:pt x="416923" y="552569"/>
                  <a:pt x="452982" y="533876"/>
                  <a:pt x="452982" y="497205"/>
                </a:cubicBezTo>
                <a:lnTo>
                  <a:pt x="452982" y="448747"/>
                </a:lnTo>
                <a:lnTo>
                  <a:pt x="307794" y="448747"/>
                </a:lnTo>
                <a:lnTo>
                  <a:pt x="307794" y="432554"/>
                </a:lnTo>
                <a:lnTo>
                  <a:pt x="525780" y="432554"/>
                </a:lnTo>
                <a:cubicBezTo>
                  <a:pt x="568098" y="432554"/>
                  <a:pt x="583746" y="406718"/>
                  <a:pt x="598442" y="368022"/>
                </a:cubicBezTo>
                <a:cubicBezTo>
                  <a:pt x="613682" y="328136"/>
                  <a:pt x="613002" y="289798"/>
                  <a:pt x="598442" y="238720"/>
                </a:cubicBezTo>
                <a:close/>
                <a:moveTo>
                  <a:pt x="389436" y="529471"/>
                </a:moveTo>
                <a:cubicBezTo>
                  <a:pt x="379080" y="530107"/>
                  <a:pt x="369184" y="525633"/>
                  <a:pt x="363785" y="517874"/>
                </a:cubicBezTo>
                <a:cubicBezTo>
                  <a:pt x="358386" y="510115"/>
                  <a:pt x="358386" y="500368"/>
                  <a:pt x="363785" y="492610"/>
                </a:cubicBezTo>
                <a:cubicBezTo>
                  <a:pt x="369184" y="484851"/>
                  <a:pt x="379080" y="480377"/>
                  <a:pt x="389436" y="481012"/>
                </a:cubicBezTo>
                <a:cubicBezTo>
                  <a:pt x="399793" y="480377"/>
                  <a:pt x="409689" y="484851"/>
                  <a:pt x="415088" y="492610"/>
                </a:cubicBezTo>
                <a:cubicBezTo>
                  <a:pt x="420487" y="500368"/>
                  <a:pt x="420487" y="510115"/>
                  <a:pt x="415088" y="517874"/>
                </a:cubicBezTo>
                <a:cubicBezTo>
                  <a:pt x="409689" y="525633"/>
                  <a:pt x="399793" y="530107"/>
                  <a:pt x="389436" y="529471"/>
                </a:cubicBezTo>
                <a:close/>
                <a:moveTo>
                  <a:pt x="228328" y="295394"/>
                </a:moveTo>
                <a:lnTo>
                  <a:pt x="373652" y="295394"/>
                </a:lnTo>
                <a:cubicBezTo>
                  <a:pt x="414065" y="295394"/>
                  <a:pt x="446314" y="266224"/>
                  <a:pt x="446314" y="230743"/>
                </a:cubicBezTo>
                <a:lnTo>
                  <a:pt x="446314" y="109418"/>
                </a:lnTo>
                <a:cubicBezTo>
                  <a:pt x="446314" y="74890"/>
                  <a:pt x="413113" y="49054"/>
                  <a:pt x="373652" y="43220"/>
                </a:cubicBezTo>
                <a:cubicBezTo>
                  <a:pt x="324939" y="36195"/>
                  <a:pt x="272007" y="36552"/>
                  <a:pt x="228328" y="43339"/>
                </a:cubicBezTo>
                <a:cubicBezTo>
                  <a:pt x="166824" y="52864"/>
                  <a:pt x="155666" y="72747"/>
                  <a:pt x="155666" y="109537"/>
                </a:cubicBezTo>
                <a:lnTo>
                  <a:pt x="155666" y="157996"/>
                </a:lnTo>
                <a:lnTo>
                  <a:pt x="301126" y="157996"/>
                </a:lnTo>
                <a:lnTo>
                  <a:pt x="301126" y="174188"/>
                </a:lnTo>
                <a:lnTo>
                  <a:pt x="101101" y="174188"/>
                </a:lnTo>
                <a:cubicBezTo>
                  <a:pt x="58783" y="174188"/>
                  <a:pt x="21771" y="196453"/>
                  <a:pt x="10205" y="238720"/>
                </a:cubicBezTo>
                <a:cubicBezTo>
                  <a:pt x="-3130" y="287179"/>
                  <a:pt x="-3674" y="317421"/>
                  <a:pt x="10205" y="368022"/>
                </a:cubicBezTo>
                <a:cubicBezTo>
                  <a:pt x="20547" y="405646"/>
                  <a:pt x="45176" y="432554"/>
                  <a:pt x="87494" y="432554"/>
                </a:cubicBezTo>
                <a:lnTo>
                  <a:pt x="137432" y="432554"/>
                </a:lnTo>
                <a:lnTo>
                  <a:pt x="137432" y="374452"/>
                </a:lnTo>
                <a:cubicBezTo>
                  <a:pt x="137432" y="332423"/>
                  <a:pt x="178934" y="295394"/>
                  <a:pt x="228328" y="295394"/>
                </a:cubicBezTo>
                <a:close/>
                <a:moveTo>
                  <a:pt x="219347" y="77033"/>
                </a:moveTo>
                <a:cubicBezTo>
                  <a:pt x="234668" y="77033"/>
                  <a:pt x="247106" y="87917"/>
                  <a:pt x="247106" y="101322"/>
                </a:cubicBezTo>
                <a:cubicBezTo>
                  <a:pt x="247106" y="114728"/>
                  <a:pt x="234668" y="125611"/>
                  <a:pt x="219347" y="125611"/>
                </a:cubicBezTo>
                <a:cubicBezTo>
                  <a:pt x="204027" y="125611"/>
                  <a:pt x="191589" y="114728"/>
                  <a:pt x="191589" y="101322"/>
                </a:cubicBezTo>
                <a:cubicBezTo>
                  <a:pt x="191589" y="87917"/>
                  <a:pt x="204027" y="77033"/>
                  <a:pt x="219347" y="7703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81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Primary programming language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Powerful data analysis libraries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Statistical computing support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Machine learning integration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Jupyter Notebook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Interactive development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Visualization &amp; documentation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23000" y="2032000"/>
            <a:ext cx="4572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4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1847" y="1429"/>
                </a:moveTo>
                <a:cubicBezTo>
                  <a:pt x="363855" y="-4405"/>
                  <a:pt x="345123" y="7382"/>
                  <a:pt x="339937" y="27622"/>
                </a:cubicBezTo>
                <a:lnTo>
                  <a:pt x="204470" y="561023"/>
                </a:lnTo>
                <a:cubicBezTo>
                  <a:pt x="199284" y="581263"/>
                  <a:pt x="209762" y="602337"/>
                  <a:pt x="227753" y="608171"/>
                </a:cubicBezTo>
                <a:cubicBezTo>
                  <a:pt x="245745" y="614005"/>
                  <a:pt x="264478" y="602218"/>
                  <a:pt x="269663" y="581978"/>
                </a:cubicBezTo>
                <a:lnTo>
                  <a:pt x="405130" y="48578"/>
                </a:lnTo>
                <a:cubicBezTo>
                  <a:pt x="410316" y="28337"/>
                  <a:pt x="399838" y="7263"/>
                  <a:pt x="381847" y="1429"/>
                </a:cubicBezTo>
                <a:close/>
                <a:moveTo>
                  <a:pt x="450215" y="163473"/>
                </a:moveTo>
                <a:cubicBezTo>
                  <a:pt x="436986" y="178356"/>
                  <a:pt x="436986" y="202525"/>
                  <a:pt x="450215" y="217408"/>
                </a:cubicBezTo>
                <a:lnTo>
                  <a:pt x="527897" y="304800"/>
                </a:lnTo>
                <a:lnTo>
                  <a:pt x="450215" y="392192"/>
                </a:lnTo>
                <a:cubicBezTo>
                  <a:pt x="436986" y="407075"/>
                  <a:pt x="436986" y="431244"/>
                  <a:pt x="450215" y="446127"/>
                </a:cubicBezTo>
                <a:cubicBezTo>
                  <a:pt x="463444" y="461010"/>
                  <a:pt x="484928" y="461010"/>
                  <a:pt x="498157" y="446127"/>
                </a:cubicBezTo>
                <a:lnTo>
                  <a:pt x="599758" y="331827"/>
                </a:lnTo>
                <a:cubicBezTo>
                  <a:pt x="612987" y="316944"/>
                  <a:pt x="612987" y="292775"/>
                  <a:pt x="599758" y="277892"/>
                </a:cubicBezTo>
                <a:lnTo>
                  <a:pt x="498158" y="163592"/>
                </a:lnTo>
                <a:cubicBezTo>
                  <a:pt x="484928" y="148709"/>
                  <a:pt x="463444" y="148709"/>
                  <a:pt x="450215" y="163592"/>
                </a:cubicBezTo>
                <a:close/>
                <a:moveTo>
                  <a:pt x="159491" y="163473"/>
                </a:moveTo>
                <a:cubicBezTo>
                  <a:pt x="146262" y="148590"/>
                  <a:pt x="124777" y="148590"/>
                  <a:pt x="111548" y="163473"/>
                </a:cubicBezTo>
                <a:lnTo>
                  <a:pt x="9948" y="277773"/>
                </a:lnTo>
                <a:cubicBezTo>
                  <a:pt x="-3281" y="292656"/>
                  <a:pt x="-3281" y="316825"/>
                  <a:pt x="9948" y="331708"/>
                </a:cubicBezTo>
                <a:lnTo>
                  <a:pt x="111548" y="446008"/>
                </a:lnTo>
                <a:cubicBezTo>
                  <a:pt x="124777" y="460891"/>
                  <a:pt x="146262" y="460891"/>
                  <a:pt x="159491" y="446008"/>
                </a:cubicBezTo>
                <a:cubicBezTo>
                  <a:pt x="172720" y="431125"/>
                  <a:pt x="172720" y="406956"/>
                  <a:pt x="159491" y="392073"/>
                </a:cubicBezTo>
                <a:lnTo>
                  <a:pt x="81809" y="304800"/>
                </a:lnTo>
                <a:lnTo>
                  <a:pt x="159385" y="217408"/>
                </a:lnTo>
                <a:cubicBezTo>
                  <a:pt x="172614" y="202525"/>
                  <a:pt x="172614" y="178356"/>
                  <a:pt x="159385" y="16347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604000" y="33020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Libraries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04000" y="3937000"/>
            <a:ext cx="381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Data preprocessing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Numerical computing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Matplotlib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Graph plotting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Seaborn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Statistical viz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&amp; Stats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Scikit-learn - Regression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SciPy - Hypothesis testing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176000" y="2032000"/>
            <a:ext cx="3810000" cy="558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77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76200"/>
                </a:moveTo>
                <a:cubicBezTo>
                  <a:pt x="0" y="34171"/>
                  <a:pt x="45561" y="0"/>
                  <a:pt x="101600" y="0"/>
                </a:cubicBezTo>
                <a:lnTo>
                  <a:pt x="338931" y="0"/>
                </a:lnTo>
                <a:cubicBezTo>
                  <a:pt x="365919" y="0"/>
                  <a:pt x="391795" y="7977"/>
                  <a:pt x="410845" y="22265"/>
                </a:cubicBezTo>
                <a:lnTo>
                  <a:pt x="579914" y="149185"/>
                </a:lnTo>
                <a:cubicBezTo>
                  <a:pt x="598964" y="163473"/>
                  <a:pt x="609600" y="182880"/>
                  <a:pt x="609600" y="203121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330200" y="69652"/>
                </a:moveTo>
                <a:lnTo>
                  <a:pt x="330200" y="180975"/>
                </a:lnTo>
                <a:cubicBezTo>
                  <a:pt x="330200" y="196810"/>
                  <a:pt x="347186" y="209550"/>
                  <a:pt x="368300" y="209550"/>
                </a:cubicBezTo>
                <a:lnTo>
                  <a:pt x="516731" y="209550"/>
                </a:lnTo>
                <a:lnTo>
                  <a:pt x="330200" y="69652"/>
                </a:lnTo>
                <a:close/>
                <a:moveTo>
                  <a:pt x="260350" y="317540"/>
                </a:moveTo>
                <a:cubicBezTo>
                  <a:pt x="248602" y="304443"/>
                  <a:pt x="224949" y="300871"/>
                  <a:pt x="207486" y="309563"/>
                </a:cubicBezTo>
                <a:cubicBezTo>
                  <a:pt x="190024" y="318254"/>
                  <a:pt x="185261" y="336113"/>
                  <a:pt x="196850" y="349210"/>
                </a:cubicBezTo>
                <a:lnTo>
                  <a:pt x="259080" y="419100"/>
                </a:lnTo>
                <a:lnTo>
                  <a:pt x="196850" y="488990"/>
                </a:lnTo>
                <a:cubicBezTo>
                  <a:pt x="185103" y="502087"/>
                  <a:pt x="189865" y="519827"/>
                  <a:pt x="207486" y="528638"/>
                </a:cubicBezTo>
                <a:cubicBezTo>
                  <a:pt x="225107" y="537448"/>
                  <a:pt x="248602" y="533876"/>
                  <a:pt x="260350" y="520660"/>
                </a:cubicBezTo>
                <a:lnTo>
                  <a:pt x="304800" y="470654"/>
                </a:lnTo>
                <a:lnTo>
                  <a:pt x="349250" y="520660"/>
                </a:lnTo>
                <a:cubicBezTo>
                  <a:pt x="360998" y="533757"/>
                  <a:pt x="384651" y="537329"/>
                  <a:pt x="402114" y="528638"/>
                </a:cubicBezTo>
                <a:cubicBezTo>
                  <a:pt x="419576" y="519946"/>
                  <a:pt x="424339" y="502087"/>
                  <a:pt x="412750" y="488990"/>
                </a:cubicBezTo>
                <a:lnTo>
                  <a:pt x="350520" y="419100"/>
                </a:lnTo>
                <a:lnTo>
                  <a:pt x="412750" y="349210"/>
                </a:lnTo>
                <a:cubicBezTo>
                  <a:pt x="424497" y="336113"/>
                  <a:pt x="419735" y="318373"/>
                  <a:pt x="402114" y="309563"/>
                </a:cubicBezTo>
                <a:cubicBezTo>
                  <a:pt x="384493" y="300752"/>
                  <a:pt x="360998" y="304324"/>
                  <a:pt x="349250" y="317540"/>
                </a:cubicBezTo>
                <a:lnTo>
                  <a:pt x="304800" y="367546"/>
                </a:lnTo>
                <a:lnTo>
                  <a:pt x="260350" y="3175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33020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557000" y="3937000"/>
            <a:ext cx="3048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Preliminary Use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Dataset inspection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Data verification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Structure review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Excel for data understanding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Methods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68500"/>
          <a:ext cx="13716000" cy="59690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Purpose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Outputs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Evaluation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5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Pearson Correlation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Measure strength and direction of relationships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Correlation Matrix, Heatmap, r values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 = 0.264 (temp)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05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Multiple Linear Regression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Examine combined impact of climate variables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Regression Model, R2, MAE, RMSE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R2 = 0.0679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ANOVA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Compare productivity across groups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F-statistic, p-value, Eta Squared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Significant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05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Trend Analysis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Identify long-term changes over 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Trend Plot, Trend Slope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Stable trend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05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Kruskal-Wallis Test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Evaluate adaptation strategies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H-statistic, p-value, Epsilon2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Significant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Findings and Future Implications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 and Conclusions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2225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2225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22500" y="2095500"/>
            <a:ext cx="539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Temperature showed the strongest positive link with crop yield (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 = 0.264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685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36000" y="22225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22225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34500" y="2095500"/>
            <a:ext cx="539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Climate variables collectively influence productivity (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R2 = 0.0679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3810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24000" y="4064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40640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22500" y="3937000"/>
            <a:ext cx="539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ANOVA: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statistically significant differences in crop yield across countries, regions, or crop types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3810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36000" y="4064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40640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34500" y="3937000"/>
            <a:ext cx="539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Crop yield patterns remained </a:t>
            </a: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relatively stable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only slight fluctuations over time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70000" y="5651500"/>
            <a:ext cx="13716000" cy="127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524000" y="59055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59055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222500" y="5778500"/>
            <a:ext cx="1250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Kruskal-Wallis:</a:t>
            </a: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 significant differences in crop yields among adaptation strategies analyzed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270000" y="7239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51000" y="73025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Implication: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findings offer crucial insights for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policymakers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agricultural planners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farmers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develop climate-resilient strategies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flip="none" rotWithShape="1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356600" y="4572000"/>
            <a:ext cx="7785100" cy="4445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60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20000"/>
              </a:lnSpc>
            </a:pPr>
            <a:endParaRPr lang="en-US" sz="60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Thank You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78000" y="3683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048000" y="4445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endParaRPr lang="en-US" sz="2000" dirty="0"/>
          </a:p>
          <a:p>
            <a:pPr algn="ctr">
              <a:lnSpc>
                <a:spcPct val="180000"/>
              </a:lnSpc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8000" y="5588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622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1683</Words>
  <Application>Microsoft Office PowerPoint</Application>
  <PresentationFormat>Custom</PresentationFormat>
  <Paragraphs>296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Liter</vt:lpstr>
      <vt:lpstr>MiSans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 Impact of Climate Change on Agricultural Productivity Using Statistical Methods</dc:title>
  <dc:subject>Analyzing the Impact of Climate Change on Agricultural Productivity Using Statistical Methods</dc:subject>
  <dc:creator>Kimi</dc:creator>
  <cp:lastModifiedBy>bhupendar bodhan</cp:lastModifiedBy>
  <cp:revision>12</cp:revision>
  <dcterms:created xsi:type="dcterms:W3CDTF">2026-06-19T10:37:52Z</dcterms:created>
  <dcterms:modified xsi:type="dcterms:W3CDTF">2026-06-20T05:12:25Z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{"Label":"Analyzing the Impact of Climate Change on Agricultural Productivity Using Statistical Methods","ContentProducer":"001191110108MACG2KBH8F10000","ProduceID":"19edf69f-ffb2-8837-8000-0000a4ab7e4c","ReservedCode1":"","ContentPropagator":"001191110108MACG2KBH8F20000","PropagateID":"19edf67e-4f02-8ff5-8000-09837f3df3d1","ReservedCode2":""}</vt:lpwstr>
  </property>
</Properties>
</file>